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597952d23f4a0f" /><Relationship Type="http://schemas.openxmlformats.org/officeDocument/2006/relationships/extended-properties" Target="/docProps/app.xml" Id="Re589756db34d4eaf" /><Relationship Type="http://schemas.openxmlformats.org/officeDocument/2006/relationships/officeDocument" Target="/ppt/presentation.xml" Id="R5129a26c3e814fb9" /></Relationships>
</file>

<file path=ppt/presentation.xml><?xml version="1.0" encoding="utf-8"?>
<p:presentation xmlns:p="http://schemas.openxmlformats.org/presentationml/2006/main">
  <p:sldMasterIdLst>
    <p:sldMasterId xmlns:r="http://schemas.openxmlformats.org/officeDocument/2006/relationships" id="2147483648" r:id="Reb6c8ee661524753"/>
  </p:sldMasterIdLst>
  <p:notesMasterIdLst>
    <p:notesMasterId xmlns:r="http://schemas.openxmlformats.org/officeDocument/2006/relationships" r:id="R33e2ac1e11034b27"/>
  </p:notesMasterIdLst>
  <p:sldIdLst>
    <p:sldId xmlns:r="http://schemas.openxmlformats.org/officeDocument/2006/relationships" id="256" r:id="R1972e125012f4ed9"/>
    <p:sldId xmlns:r="http://schemas.openxmlformats.org/officeDocument/2006/relationships" id="257" r:id="R8fa5277f95cf4cf2"/>
    <p:sldId xmlns:r="http://schemas.openxmlformats.org/officeDocument/2006/relationships" id="258" r:id="R0246aa0b55ec4e93"/>
    <p:sldId xmlns:r="http://schemas.openxmlformats.org/officeDocument/2006/relationships" id="259" r:id="R66f0d71ff51547be"/>
    <p:sldId xmlns:r="http://schemas.openxmlformats.org/officeDocument/2006/relationships" id="260" r:id="Rffecbe37768b4efb"/>
    <p:sldId xmlns:r="http://schemas.openxmlformats.org/officeDocument/2006/relationships" id="261" r:id="R52597e843f2e4be0"/>
    <p:sldId xmlns:r="http://schemas.openxmlformats.org/officeDocument/2006/relationships" id="262" r:id="Rca1eec79c665477e"/>
    <p:sldId xmlns:r="http://schemas.openxmlformats.org/officeDocument/2006/relationships" id="263" r:id="Rc35c86266cca4e1e"/>
    <p:sldId xmlns:r="http://schemas.openxmlformats.org/officeDocument/2006/relationships" id="264" r:id="Rfd1a8f0793cb44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ce73d5b59a4e5d" /><Relationship Type="http://schemas.openxmlformats.org/officeDocument/2006/relationships/slideMaster" Target="/ppt/slideMasters/slideMaster1.xml" Id="Reb6c8ee661524753" /><Relationship Type="http://schemas.openxmlformats.org/officeDocument/2006/relationships/notesMaster" Target="/ppt/notesMasters/notesMaster1.xml" Id="R33e2ac1e11034b27" /><Relationship Type="http://schemas.openxmlformats.org/officeDocument/2006/relationships/presProps" Target="/ppt/presProps.xml" Id="Rab5a6bf3a5c6464e" /><Relationship Type="http://schemas.openxmlformats.org/officeDocument/2006/relationships/tableStyles" Target="/ppt/tableStyles.xml" Id="R8b933ee8dfb84bed" /><Relationship Type="http://schemas.openxmlformats.org/officeDocument/2006/relationships/slide" Target="/ppt/slides/slide1.xml" Id="R1972e125012f4ed9" /><Relationship Type="http://schemas.openxmlformats.org/officeDocument/2006/relationships/slide" Target="/ppt/slides/slide2.xml" Id="R8fa5277f95cf4cf2" /><Relationship Type="http://schemas.openxmlformats.org/officeDocument/2006/relationships/slide" Target="/ppt/slides/slide3.xml" Id="R0246aa0b55ec4e93" /><Relationship Type="http://schemas.openxmlformats.org/officeDocument/2006/relationships/slide" Target="/ppt/slides/slide4.xml" Id="R66f0d71ff51547be" /><Relationship Type="http://schemas.openxmlformats.org/officeDocument/2006/relationships/slide" Target="/ppt/slides/slide5.xml" Id="Rffecbe37768b4efb" /><Relationship Type="http://schemas.openxmlformats.org/officeDocument/2006/relationships/slide" Target="/ppt/slides/slide6.xml" Id="R52597e843f2e4be0" /><Relationship Type="http://schemas.openxmlformats.org/officeDocument/2006/relationships/slide" Target="/ppt/slides/slide7.xml" Id="Rca1eec79c665477e" /><Relationship Type="http://schemas.openxmlformats.org/officeDocument/2006/relationships/slide" Target="/ppt/slides/slide8.xml" Id="Rc35c86266cca4e1e" /><Relationship Type="http://schemas.openxmlformats.org/officeDocument/2006/relationships/slide" Target="/ppt/slides/slide9.xml" Id="Rfd1a8f0793cb44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a9b91dd53446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beac1d96cd4a25" /><Relationship Type="http://schemas.openxmlformats.org/officeDocument/2006/relationships/notesMaster" Target="/ppt/notesMasters/notesMaster1.xml" Id="R1685a9ea0b3548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46dbeb480d45ba" /><Relationship Type="http://schemas.openxmlformats.org/officeDocument/2006/relationships/notesMaster" Target="/ppt/notesMasters/notesMaster1.xml" Id="R7b298f5b515347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702db11a924d80" /><Relationship Type="http://schemas.openxmlformats.org/officeDocument/2006/relationships/notesMaster" Target="/ppt/notesMasters/notesMaster1.xml" Id="Rd4db1609e97348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527af28be242d2" /><Relationship Type="http://schemas.openxmlformats.org/officeDocument/2006/relationships/notesMaster" Target="/ppt/notesMasters/notesMaster1.xml" Id="R94e91674da034d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222163f7684d2a" /><Relationship Type="http://schemas.openxmlformats.org/officeDocument/2006/relationships/notesMaster" Target="/ppt/notesMasters/notesMaster1.xml" Id="R0a3c3f96503547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40e585edd642d8" /><Relationship Type="http://schemas.openxmlformats.org/officeDocument/2006/relationships/notesMaster" Target="/ppt/notesMasters/notesMaster1.xml" Id="Rcb26d5fd748747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b43e7ce2e44808" /><Relationship Type="http://schemas.openxmlformats.org/officeDocument/2006/relationships/notesMaster" Target="/ppt/notesMasters/notesMaster1.xml" Id="Rc4bc7203663e44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0c195b51e64abb" /><Relationship Type="http://schemas.openxmlformats.org/officeDocument/2006/relationships/notesMaster" Target="/ppt/notesMasters/notesMaster1.xml" Id="R23691e91385245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3be1a6d1754110" /><Relationship Type="http://schemas.openxmlformats.org/officeDocument/2006/relationships/notesMaster" Target="/ppt/notesMasters/notesMaster1.xml" Id="R8118f4ee205f46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Bupa Agent helps members understand their cover and take the next step.</a:t>
            </a:r>
          </a:p>
          <a:p xmlns:a="http://schemas.openxmlformats.org/drawingml/2006/main">
            <a:r>
              <a:t/>
            </a:r>
          </a:p>
          <a:p xmlns:a="http://schemas.openxmlformats.org/drawingml/2006/main">
            <a:r>
              <a:t>Pitch timing: 5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Abstract background generated with the built-in imagegen tool. Prompt retained in .ppt-build/assets/blue-flow-prompt.txt.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a question from our own experience: why can someone have health insurance and still feel unsure about getting care? We were learning a new healthcare system, trying to understand our cover, and dealing with medical language in English. We wanted to make that first step easier for someone like us.</a:t>
            </a:r>
          </a:p>
          <a:p xmlns:a="http://schemas.openxmlformats.org/drawingml/2006/main">
            <a:r>
              <a:t/>
            </a:r>
          </a:p>
          <a:p xmlns:a="http://schemas.openxmlformats.org/drawingml/2006/main">
            <a:r>
              <a:t>Pitch timing: 30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 Lin, a new international student in Melbourne. She needs to understand her cover, choose where to go, and communicate in her language. Then she still has to complete the booking. Our product follows her through that final step.</a:t>
            </a:r>
          </a:p>
          <a:p xmlns:a="http://schemas.openxmlformats.org/drawingml/2006/main">
            <a:r>
              <a:t/>
            </a:r>
          </a:p>
          <a:p xmlns:a="http://schemas.openxmlformats.org/drawingml/2006/main">
            <a:r>
              <a:t>Pitch timing: 20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journey map highlights the handoff between an answer and an appointment. Lin may still have to find another screen and enter the same details again. We want to carry the context she has authorised into that next step, while keeping her in control.</a:t>
            </a:r>
          </a:p>
          <a:p xmlns:a="http://schemas.openxmlformats.org/drawingml/2006/main">
            <a:r>
              <a:t/>
            </a:r>
          </a:p>
          <a:p xmlns:a="http://schemas.openxmlformats.org/drawingml/2006/main">
            <a:r>
              <a:t>Pitch timing: 20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Bupa Agent connects three places. The chat explains and prepares. Profile lets Lin control which information it can use. Dashboard holds her appointments and any health summary she allows. The Agent fills the form, and Lin reviews the details and submits it herself.</a:t>
            </a:r>
          </a:p>
          <a:p xmlns:a="http://schemas.openxmlformats.org/drawingml/2006/main">
            <a:r>
              <a:t/>
            </a:r>
          </a:p>
          <a:p xmlns:a="http://schemas.openxmlformats.org/drawingml/2006/main">
            <a:r>
              <a:t>Pitch timing: 20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Screenshots captured from the local project prototype on 28 September 2026. Fictional member data and scripted behaviour.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 asks in Chinese for help arranging a health check. The Agent explains the relevant cover and what still needs confirmation, then prepares the booking form. Here is the key moment: it asks for her postcode to find nearby clinics. She sees the purpose, chooses this time only, and gets relevant options. Each prefilled field shows its source. Lin checks the details and presses Submit herself. The appointment appears on Dashboard, and the permission receipt stays visible in Profile. All member and clinic information here is demo data.</a:t>
            </a:r>
          </a:p>
          <a:p xmlns:a="http://schemas.openxmlformats.org/drawingml/2006/main">
            <a:r>
              <a:t/>
            </a:r>
          </a:p>
          <a:p xmlns:a="http://schemas.openxmlformats.org/drawingml/2006/main">
            <a:r>
              <a:t>Pitch timing: 50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General product background: https://www.bupa.com.au/health-insurance/oshc/cover/standard-oshc</a:t>
            </a:r>
          </a:p>
          <a:p xmlns:a="http://schemas.openxmlformats.org/drawingml/2006/main">
            <a:r>
              <a:t>Screenshots: local fictional prototype. Cover and provider amounts are demonstration data.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separate permission, Lin can keep a brief record of her arm-injury visit. Later, a reminder explains why it appears and offers help if her doctor recommended follow-up. She can prepare another booking or dismiss it. She can also withdraw permission for future suggestions.</a:t>
            </a:r>
          </a:p>
          <a:p xmlns:a="http://schemas.openxmlformats.org/drawingml/2006/main">
            <a:r>
              <a:t/>
            </a:r>
          </a:p>
          <a:p xmlns:a="http://schemas.openxmlformats.org/drawingml/2006/main">
            <a:r>
              <a:t>Pitch timing: 20 seconds.</a:t>
            </a:r>
          </a:p>
          <a:p xmlns:a="http://schemas.openxmlformats.org/drawingml/2006/main">
            <a:r>
              <a:t>Concept walkthrough. The local demo uses simulated history; do not imply production cloud memory or medical diagnosis. Follow-up is conditional on the clinician’s advice.</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Screenshots captured from the local project prototype on 28 September 2026. Fictional member data and scripted behaviour.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scripted prototype demonstrates the journey. Next, we propose approved integrations and a 90-day university pilot to test booking completion and avoidable support calls.</a:t>
            </a:r>
          </a:p>
          <a:p xmlns:a="http://schemas.openxmlformats.org/drawingml/2006/main">
            <a:r>
              <a:t/>
            </a:r>
          </a:p>
          <a:p xmlns:a="http://schemas.openxmlformats.org/drawingml/2006/main">
            <a:r>
              <a:t>Pitch timing: 12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Helping Lin take the next step. Thank you.</a:t>
            </a:r>
          </a:p>
          <a:p xmlns:a="http://schemas.openxmlformats.org/drawingml/2006/main">
            <a:r>
              <a:t/>
            </a:r>
          </a:p>
          <a:p xmlns:a="http://schemas.openxmlformats.org/drawingml/2006/main">
            <a:r>
              <a:t>Pitch timing: 3 seconds.</a:t>
            </a:r>
          </a:p>
          <a:p xmlns:a="http://schemas.openxmlformats.org/drawingml/2006/main">
            <a:r>
              <a:t>Q&amp;A: Distinguish scripted prototype from approved production integration. Consent withdrawal stops the relevant future use. Do not equate it with deleting all medical or transaction records. Measure task completion and informed consent as well as support contacts.</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Abstract background generated with the built-in imagegen tool. Prompt retained in .ppt-build/assets/blue-flow-prompt.txt.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e2425b4c244e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29d9e0aea1463c" /><Relationship Type="http://schemas.openxmlformats.org/officeDocument/2006/relationships/slideLayout" Target="/ppt/slideLayouts/slideLayout1.xml" Id="Re40ba57b081843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0ba57b081843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bd6cae13934833" /><Relationship Type="http://schemas.openxmlformats.org/officeDocument/2006/relationships/image" Target="/ppt/media/image.png" Id="Rc630857852904a32" /><Relationship Type="http://schemas.openxmlformats.org/officeDocument/2006/relationships/notesSlide" Target="/ppt/notesSlides/notesSlide1.xml" Id="R8a599fbd032840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f81241238641ec" /><Relationship Type="http://schemas.openxmlformats.org/officeDocument/2006/relationships/notesSlide" Target="/ppt/notesSlides/notesSlide2.xml" Id="R06a545adda8d42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efe91ca706244f3" /><Relationship Type="http://schemas.openxmlformats.org/officeDocument/2006/relationships/notesSlide" Target="/ppt/notesSlides/notesSlide3.xml" Id="Rdf29b2437a364f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865fe0ee764a83" /><Relationship Type="http://schemas.openxmlformats.org/officeDocument/2006/relationships/notesSlide" Target="/ppt/notesSlides/notesSlide4.xml" Id="R2b19719dba6740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57c0f6e05f4f6c" /><Relationship Type="http://schemas.openxmlformats.org/officeDocument/2006/relationships/image" Target="/ppt/media/image2.png" Id="R8082a6136d6e42b0" /><Relationship Type="http://schemas.openxmlformats.org/officeDocument/2006/relationships/notesSlide" Target="/ppt/notesSlides/notesSlide5.xml" Id="R41ebac3c0a604e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ab1edf2f764955" /><Relationship Type="http://schemas.openxmlformats.org/officeDocument/2006/relationships/image" Target="/ppt/media/image3.png" Id="Re04d188758784691" /><Relationship Type="http://schemas.openxmlformats.org/officeDocument/2006/relationships/notesSlide" Target="/ppt/notesSlides/notesSlide6.xml" Id="R499adc3ac2ae4a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563e72f4f34a5e" /><Relationship Type="http://schemas.openxmlformats.org/officeDocument/2006/relationships/image" Target="/ppt/media/image4.png" Id="R23dd8cc5fdc84a36" /><Relationship Type="http://schemas.openxmlformats.org/officeDocument/2006/relationships/notesSlide" Target="/ppt/notesSlides/notesSlide7.xml" Id="R41e390b7c76647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efae8982324feb" /><Relationship Type="http://schemas.openxmlformats.org/officeDocument/2006/relationships/notesSlide" Target="/ppt/notesSlides/notesSlide8.xml" Id="Rbcf98453c2aa4e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95f274ea864494" /><Relationship Type="http://schemas.openxmlformats.org/officeDocument/2006/relationships/image" Target="/ppt/media/image5.png" Id="R329757adc1b440ca" /><Relationship Type="http://schemas.openxmlformats.org/officeDocument/2006/relationships/notesSlide" Target="/ppt/notesSlides/notesSlide9.xml" Id="R51a06a4f420d4b2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630857852904a3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0DF826B-3C85-4429-BA6F-9B6FC473B563}"/>
              </a:ext>
            </a:extLst>
          </p:cNvPr>
          <p:cNvSpPr>
            <a:spLocks xmlns:a="http://schemas.openxmlformats.org/drawingml/2006/main" noGrp="1"/>
          </p:cNvSpPr>
          <p:nvPr/>
        </p:nvSpPr>
        <p:spPr>
          <a:xfrm xmlns:a="http://schemas.openxmlformats.org/drawingml/2006/main">
            <a:off x="685800" y="1381125"/>
            <a:ext cx="7334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0079C8"/>
                </a:solidFill>
                <a:latin typeface="Arial"/>
                <a:ea typeface="Arial"/>
                <a:cs typeface="Arial"/>
              </a:defRPr>
            </a:pPr>
            <a:r>
              <a:rPr sz="7500" b="1">
                <a:solidFill>
                  <a:srgbClr val="0079C8"/>
                </a:solidFill>
                <a:latin typeface="Arial"/>
                <a:ea typeface="Arial"/>
                <a:cs typeface="Arial"/>
              </a:rPr>
              <a:t>My Bupa</a:t>
            </a:r>
          </a:p>
          <a:p xmlns:a="http://schemas.openxmlformats.org/drawingml/2006/main">
            <a:pPr algn="l">
              <a:defRPr sz="7500" b="1">
                <a:solidFill>
                  <a:srgbClr val="0079C8"/>
                </a:solidFill>
                <a:latin typeface="Arial"/>
                <a:ea typeface="Arial"/>
                <a:cs typeface="Arial"/>
              </a:defRPr>
            </a:pPr>
            <a:r>
              <a:rPr sz="7500" b="1">
                <a:solidFill>
                  <a:srgbClr val="0079C8"/>
                </a:solidFill>
                <a:latin typeface="Arial"/>
                <a:ea typeface="Arial"/>
                <a:cs typeface="Arial"/>
              </a:rPr>
              <a:t>Agent</a:t>
            </a:r>
          </a:p>
        </p:txBody>
      </p:sp>
      <p:sp>
        <p:nvSpPr>
          <p:cNvPr id="3" name="text-2">
            <a:extLst xmlns:a="http://schemas.openxmlformats.org/drawingml/2006/main">
              <a:ext uri="{FF2B5EF4-FFF2-40B4-BE49-F238E27FC236}">
                <a16:creationId xmlns:a16="http://schemas.microsoft.com/office/drawing/2014/main" id="{D5678566-D174-4B71-85A8-A9F15D75D1D9}"/>
              </a:ext>
            </a:extLst>
          </p:cNvPr>
          <p:cNvSpPr>
            <a:spLocks xmlns:a="http://schemas.openxmlformats.org/drawingml/2006/main" noGrp="1"/>
          </p:cNvSpPr>
          <p:nvPr/>
        </p:nvSpPr>
        <p:spPr>
          <a:xfrm xmlns:a="http://schemas.openxmlformats.org/drawingml/2006/main">
            <a:off x="742950" y="3943350"/>
            <a:ext cx="619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073B60"/>
                </a:solidFill>
                <a:latin typeface="Arial"/>
                <a:ea typeface="Arial"/>
                <a:cs typeface="Arial"/>
              </a:defRPr>
            </a:pPr>
            <a:r>
              <a:rPr sz="2775" b="0">
                <a:solidFill>
                  <a:srgbClr val="073B60"/>
                </a:solidFill>
                <a:latin typeface="Arial"/>
                <a:ea typeface="Arial"/>
                <a:cs typeface="Arial"/>
              </a:rPr>
              <a:t>Your health, handled.</a:t>
            </a:r>
          </a:p>
          <a:p xmlns:a="http://schemas.openxmlformats.org/drawingml/2006/main">
            <a:pPr algn="l">
              <a:defRPr sz="2775" b="0">
                <a:solidFill>
                  <a:srgbClr val="073B60"/>
                </a:solidFill>
                <a:latin typeface="Arial"/>
                <a:ea typeface="Arial"/>
                <a:cs typeface="Arial"/>
              </a:defRPr>
            </a:pPr>
            <a:r>
              <a:rPr sz="2775" b="0">
                <a:solidFill>
                  <a:srgbClr val="073B60"/>
                </a:solidFill>
                <a:latin typeface="Arial"/>
                <a:ea typeface="Arial"/>
                <a:cs typeface="Arial"/>
              </a:rPr>
              <a:t>In your language.</a:t>
            </a:r>
          </a:p>
        </p:txBody>
      </p:sp>
      <p:sp>
        <p:nvSpPr>
          <p:cNvPr id="4" name="text-3">
            <a:extLst xmlns:a="http://schemas.openxmlformats.org/drawingml/2006/main">
              <a:ext uri="{FF2B5EF4-FFF2-40B4-BE49-F238E27FC236}">
                <a16:creationId xmlns:a16="http://schemas.microsoft.com/office/drawing/2014/main" id="{095371FC-2449-4AE1-8FCE-5E127A5B9309}"/>
              </a:ext>
            </a:extLst>
          </p:cNvPr>
          <p:cNvSpPr>
            <a:spLocks xmlns:a="http://schemas.openxmlformats.org/drawingml/2006/main" noGrp="1"/>
          </p:cNvSpPr>
          <p:nvPr/>
        </p:nvSpPr>
        <p:spPr>
          <a:xfrm xmlns:a="http://schemas.openxmlformats.org/drawingml/2006/main">
            <a:off x="742950" y="569595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D82"/>
                </a:solidFill>
                <a:latin typeface="Arial"/>
                <a:ea typeface="Arial"/>
                <a:cs typeface="Arial"/>
              </a:defRPr>
            </a:pPr>
            <a:r>
              <a:rPr sz="1575" b="0">
                <a:solidFill>
                  <a:srgbClr val="526D82"/>
                </a:solidFill>
                <a:latin typeface="Arial"/>
                <a:ea typeface="Arial"/>
                <a:cs typeface="Arial"/>
              </a:rPr>
              <a:t>Team 4D   /   Challenge 4: Data</a:t>
            </a:r>
          </a:p>
        </p:txBody>
      </p:sp>
      <p:sp>
        <p:nvSpPr>
          <p:cNvPr id="5" name="text-4">
            <a:extLst xmlns:a="http://schemas.openxmlformats.org/drawingml/2006/main">
              <a:ext uri="{FF2B5EF4-FFF2-40B4-BE49-F238E27FC236}">
                <a16:creationId xmlns:a16="http://schemas.microsoft.com/office/drawing/2014/main" id="{53F4CA31-80E4-4512-987D-0E60C9120F3F}"/>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01 / 09</a:t>
            </a:r>
          </a:p>
        </p:txBody>
      </p:sp>
    </p:spTree>
    <p:extLst>
      <p:ext uri="{BB962C8B-B14F-4D97-AF65-F5344CB8AC3E}">
        <p14:creationId xmlns:p14="http://schemas.microsoft.com/office/powerpoint/2010/main" val="8141917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
            <a:extLst xmlns:a="http://schemas.openxmlformats.org/drawingml/2006/main">
              <a:ext uri="{FF2B5EF4-FFF2-40B4-BE49-F238E27FC236}">
                <a16:creationId xmlns:a16="http://schemas.microsoft.com/office/drawing/2014/main" id="{9EB6D643-AD29-4246-9B83-36CDF91263F9}"/>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We are the users</a:t>
            </a:r>
          </a:p>
        </p:txBody>
      </p:sp>
      <p:sp>
        <p:nvSpPr>
          <p:cNvPr id="2" name="text-6">
            <a:extLst xmlns:a="http://schemas.openxmlformats.org/drawingml/2006/main">
              <a:ext uri="{FF2B5EF4-FFF2-40B4-BE49-F238E27FC236}">
                <a16:creationId xmlns:a16="http://schemas.microsoft.com/office/drawing/2014/main" id="{61B5D923-B38C-43C4-BABA-50EB4924BA0F}"/>
              </a:ext>
            </a:extLst>
          </p:cNvPr>
          <p:cNvSpPr>
            <a:spLocks xmlns:a="http://schemas.openxmlformats.org/drawingml/2006/main" noGrp="1"/>
          </p:cNvSpPr>
          <p:nvPr/>
        </p:nvSpPr>
        <p:spPr>
          <a:xfrm xmlns:a="http://schemas.openxmlformats.org/drawingml/2006/main">
            <a:off x="685800" y="2362200"/>
            <a:ext cx="4476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9C8"/>
                </a:solidFill>
                <a:latin typeface="Arial"/>
                <a:ea typeface="Arial"/>
                <a:cs typeface="Arial"/>
              </a:defRPr>
            </a:pPr>
            <a:r>
              <a:rPr sz="3300" b="1">
                <a:solidFill>
                  <a:srgbClr val="0079C8"/>
                </a:solidFill>
                <a:latin typeface="Arial"/>
                <a:ea typeface="Arial"/>
                <a:cs typeface="Arial"/>
              </a:rPr>
              <a:t>Having insurance</a:t>
            </a:r>
          </a:p>
          <a:p xmlns:a="http://schemas.openxmlformats.org/drawingml/2006/main">
            <a:pPr algn="l">
              <a:defRPr sz="3300" b="1">
                <a:solidFill>
                  <a:srgbClr val="0079C8"/>
                </a:solidFill>
                <a:latin typeface="Arial"/>
                <a:ea typeface="Arial"/>
                <a:cs typeface="Arial"/>
              </a:defRPr>
            </a:pPr>
            <a:r>
              <a:rPr sz="3300" b="1">
                <a:solidFill>
                  <a:srgbClr val="0079C8"/>
                </a:solidFill>
                <a:latin typeface="Arial"/>
                <a:ea typeface="Arial"/>
                <a:cs typeface="Arial"/>
              </a:rPr>
              <a:t>did not make the</a:t>
            </a:r>
          </a:p>
          <a:p xmlns:a="http://schemas.openxmlformats.org/drawingml/2006/main">
            <a:pPr algn="l">
              <a:defRPr sz="3300" b="1">
                <a:solidFill>
                  <a:srgbClr val="0079C8"/>
                </a:solidFill>
                <a:latin typeface="Arial"/>
                <a:ea typeface="Arial"/>
                <a:cs typeface="Arial"/>
              </a:defRPr>
            </a:pPr>
            <a:r>
              <a:rPr sz="3300" b="1">
                <a:solidFill>
                  <a:srgbClr val="0079C8"/>
                </a:solidFill>
                <a:latin typeface="Arial"/>
                <a:ea typeface="Arial"/>
                <a:cs typeface="Arial"/>
              </a:rPr>
              <a:t>next step clear.</a:t>
            </a:r>
          </a:p>
        </p:txBody>
      </p:sp>
      <p:sp>
        <p:nvSpPr>
          <p:cNvPr id="3" name="text-7">
            <a:extLst xmlns:a="http://schemas.openxmlformats.org/drawingml/2006/main">
              <a:ext uri="{FF2B5EF4-FFF2-40B4-BE49-F238E27FC236}">
                <a16:creationId xmlns:a16="http://schemas.microsoft.com/office/drawing/2014/main" id="{77EAF4C3-7D3A-429B-9E93-ECB58449BCF6}"/>
              </a:ext>
            </a:extLst>
          </p:cNvPr>
          <p:cNvSpPr>
            <a:spLocks xmlns:a="http://schemas.openxmlformats.org/drawingml/2006/main" noGrp="1"/>
          </p:cNvSpPr>
          <p:nvPr/>
        </p:nvSpPr>
        <p:spPr>
          <a:xfrm xmlns:a="http://schemas.openxmlformats.org/drawingml/2006/main">
            <a:off x="5953125" y="218122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79C8"/>
                </a:solidFill>
                <a:latin typeface="Arial"/>
                <a:ea typeface="Arial"/>
                <a:cs typeface="Arial"/>
              </a:defRPr>
            </a:pPr>
            <a:r>
              <a:rPr sz="1650" b="1">
                <a:solidFill>
                  <a:srgbClr val="0079C8"/>
                </a:solidFill>
                <a:latin typeface="Arial"/>
                <a:ea typeface="Arial"/>
                <a:cs typeface="Arial"/>
              </a:rPr>
              <a:t>01</a:t>
            </a:r>
          </a:p>
        </p:txBody>
      </p:sp>
      <p:sp>
        <p:nvSpPr>
          <p:cNvPr id="4" name="text-8">
            <a:extLst xmlns:a="http://schemas.openxmlformats.org/drawingml/2006/main">
              <a:ext uri="{FF2B5EF4-FFF2-40B4-BE49-F238E27FC236}">
                <a16:creationId xmlns:a16="http://schemas.microsoft.com/office/drawing/2014/main" id="{D66B5B83-F315-40A2-8201-2DD410DAF315}"/>
              </a:ext>
            </a:extLst>
          </p:cNvPr>
          <p:cNvSpPr>
            <a:spLocks xmlns:a="http://schemas.openxmlformats.org/drawingml/2006/main" noGrp="1"/>
          </p:cNvSpPr>
          <p:nvPr/>
        </p:nvSpPr>
        <p:spPr>
          <a:xfrm xmlns:a="http://schemas.openxmlformats.org/drawingml/2006/main">
            <a:off x="6772275" y="2133600"/>
            <a:ext cx="4676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An unfamiliar</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healthcare system</a:t>
            </a:r>
          </a:p>
        </p:txBody>
      </p:sp>
      <p:sp>
        <p:nvSpPr>
          <p:cNvPr id="5" name="text-9">
            <a:extLst xmlns:a="http://schemas.openxmlformats.org/drawingml/2006/main">
              <a:ext uri="{FF2B5EF4-FFF2-40B4-BE49-F238E27FC236}">
                <a16:creationId xmlns:a16="http://schemas.microsoft.com/office/drawing/2014/main" id="{24E560F8-82C1-4394-8808-4FFB8BF0942F}"/>
              </a:ext>
            </a:extLst>
          </p:cNvPr>
          <p:cNvSpPr>
            <a:spLocks xmlns:a="http://schemas.openxmlformats.org/drawingml/2006/main" noGrp="1"/>
          </p:cNvSpPr>
          <p:nvPr/>
        </p:nvSpPr>
        <p:spPr>
          <a:xfrm xmlns:a="http://schemas.openxmlformats.org/drawingml/2006/main">
            <a:off x="5953125" y="3429000"/>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79C8"/>
                </a:solidFill>
                <a:latin typeface="Arial"/>
                <a:ea typeface="Arial"/>
                <a:cs typeface="Arial"/>
              </a:defRPr>
            </a:pPr>
            <a:r>
              <a:rPr sz="1650" b="1">
                <a:solidFill>
                  <a:srgbClr val="0079C8"/>
                </a:solidFill>
                <a:latin typeface="Arial"/>
                <a:ea typeface="Arial"/>
                <a:cs typeface="Arial"/>
              </a:rPr>
              <a:t>02</a:t>
            </a:r>
          </a:p>
        </p:txBody>
      </p:sp>
      <p:sp>
        <p:nvSpPr>
          <p:cNvPr id="6" name="text-10">
            <a:extLst xmlns:a="http://schemas.openxmlformats.org/drawingml/2006/main">
              <a:ext uri="{FF2B5EF4-FFF2-40B4-BE49-F238E27FC236}">
                <a16:creationId xmlns:a16="http://schemas.microsoft.com/office/drawing/2014/main" id="{2578D842-71DA-4D3D-8801-7FF81DD466E6}"/>
              </a:ext>
            </a:extLst>
          </p:cNvPr>
          <p:cNvSpPr>
            <a:spLocks xmlns:a="http://schemas.openxmlformats.org/drawingml/2006/main" noGrp="1"/>
          </p:cNvSpPr>
          <p:nvPr/>
        </p:nvSpPr>
        <p:spPr>
          <a:xfrm xmlns:a="http://schemas.openxmlformats.org/drawingml/2006/main">
            <a:off x="6772275" y="3381375"/>
            <a:ext cx="4676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Cover we struggled</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to understand</a:t>
            </a:r>
          </a:p>
        </p:txBody>
      </p:sp>
      <p:sp>
        <p:nvSpPr>
          <p:cNvPr id="7" name="text-11">
            <a:extLst xmlns:a="http://schemas.openxmlformats.org/drawingml/2006/main">
              <a:ext uri="{FF2B5EF4-FFF2-40B4-BE49-F238E27FC236}">
                <a16:creationId xmlns:a16="http://schemas.microsoft.com/office/drawing/2014/main" id="{17F41225-C6D1-4619-973C-583E79797F56}"/>
              </a:ext>
            </a:extLst>
          </p:cNvPr>
          <p:cNvSpPr>
            <a:spLocks xmlns:a="http://schemas.openxmlformats.org/drawingml/2006/main" noGrp="1"/>
          </p:cNvSpPr>
          <p:nvPr/>
        </p:nvSpPr>
        <p:spPr>
          <a:xfrm xmlns:a="http://schemas.openxmlformats.org/drawingml/2006/main">
            <a:off x="5953125" y="467677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79C8"/>
                </a:solidFill>
                <a:latin typeface="Arial"/>
                <a:ea typeface="Arial"/>
                <a:cs typeface="Arial"/>
              </a:defRPr>
            </a:pPr>
            <a:r>
              <a:rPr sz="1650" b="1">
                <a:solidFill>
                  <a:srgbClr val="0079C8"/>
                </a:solidFill>
                <a:latin typeface="Arial"/>
                <a:ea typeface="Arial"/>
                <a:cs typeface="Arial"/>
              </a:rPr>
              <a:t>03</a:t>
            </a:r>
          </a:p>
        </p:txBody>
      </p:sp>
      <p:sp>
        <p:nvSpPr>
          <p:cNvPr id="8" name="text-12">
            <a:extLst xmlns:a="http://schemas.openxmlformats.org/drawingml/2006/main">
              <a:ext uri="{FF2B5EF4-FFF2-40B4-BE49-F238E27FC236}">
                <a16:creationId xmlns:a16="http://schemas.microsoft.com/office/drawing/2014/main" id="{FEC66EF9-0C0D-4AF8-A32A-D675B54C8D53}"/>
              </a:ext>
            </a:extLst>
          </p:cNvPr>
          <p:cNvSpPr>
            <a:spLocks xmlns:a="http://schemas.openxmlformats.org/drawingml/2006/main" noGrp="1"/>
          </p:cNvSpPr>
          <p:nvPr/>
        </p:nvSpPr>
        <p:spPr>
          <a:xfrm xmlns:a="http://schemas.openxmlformats.org/drawingml/2006/main">
            <a:off x="6772275" y="4629150"/>
            <a:ext cx="4676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Medical conversations</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in a second language</a:t>
            </a:r>
          </a:p>
        </p:txBody>
      </p:sp>
      <p:sp>
        <p:nvSpPr>
          <p:cNvPr id="9" name="text-13">
            <a:extLst xmlns:a="http://schemas.openxmlformats.org/drawingml/2006/main">
              <a:ext uri="{FF2B5EF4-FFF2-40B4-BE49-F238E27FC236}">
                <a16:creationId xmlns:a16="http://schemas.microsoft.com/office/drawing/2014/main" id="{6CFB81A9-9352-48D5-89B6-DC1B8A2F3F59}"/>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02 / 09</a:t>
            </a:r>
          </a:p>
        </p:txBody>
      </p:sp>
    </p:spTree>
    <p:extLst>
      <p:ext uri="{BB962C8B-B14F-4D97-AF65-F5344CB8AC3E}">
        <p14:creationId xmlns:p14="http://schemas.microsoft.com/office/powerpoint/2010/main" val="18327153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4">
            <a:extLst xmlns:a="http://schemas.openxmlformats.org/drawingml/2006/main">
              <a:ext uri="{FF2B5EF4-FFF2-40B4-BE49-F238E27FC236}">
                <a16:creationId xmlns:a16="http://schemas.microsoft.com/office/drawing/2014/main" id="{B49B0607-0DAD-48DE-B609-2259DD12982C}"/>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Meet Lin</a:t>
            </a:r>
          </a:p>
        </p:txBody>
      </p:sp>
      <p:sp>
        <p:nvSpPr>
          <p:cNvPr id="2" name="text-15">
            <a:extLst xmlns:a="http://schemas.openxmlformats.org/drawingml/2006/main">
              <a:ext uri="{FF2B5EF4-FFF2-40B4-BE49-F238E27FC236}">
                <a16:creationId xmlns:a16="http://schemas.microsoft.com/office/drawing/2014/main" id="{E3DC7C23-6013-4DBA-83E0-5B0E4D402C37}"/>
              </a:ext>
            </a:extLst>
          </p:cNvPr>
          <p:cNvSpPr>
            <a:spLocks xmlns:a="http://schemas.openxmlformats.org/drawingml/2006/main" noGrp="1"/>
          </p:cNvSpPr>
          <p:nvPr/>
        </p:nvSpPr>
        <p:spPr>
          <a:xfrm xmlns:a="http://schemas.openxmlformats.org/drawingml/2006/main">
            <a:off x="695325" y="1981200"/>
            <a:ext cx="39528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0" b="1">
                <a:solidFill>
                  <a:srgbClr val="0079C8"/>
                </a:solidFill>
                <a:latin typeface="Arial"/>
                <a:ea typeface="Arial"/>
                <a:cs typeface="Arial"/>
              </a:defRPr>
            </a:pPr>
            <a:r>
              <a:rPr sz="8250" b="1">
                <a:solidFill>
                  <a:srgbClr val="0079C8"/>
                </a:solidFill>
                <a:latin typeface="Arial"/>
                <a:ea typeface="Arial"/>
                <a:cs typeface="Arial"/>
              </a:rPr>
              <a:t>Lin</a:t>
            </a:r>
          </a:p>
        </p:txBody>
      </p:sp>
      <p:sp>
        <p:nvSpPr>
          <p:cNvPr id="3" name="text-16">
            <a:extLst xmlns:a="http://schemas.openxmlformats.org/drawingml/2006/main">
              <a:ext uri="{FF2B5EF4-FFF2-40B4-BE49-F238E27FC236}">
                <a16:creationId xmlns:a16="http://schemas.microsoft.com/office/drawing/2014/main" id="{220E291C-4929-4B96-9790-D76F928CBE09}"/>
              </a:ext>
            </a:extLst>
          </p:cNvPr>
          <p:cNvSpPr>
            <a:spLocks xmlns:a="http://schemas.openxmlformats.org/drawingml/2006/main" noGrp="1"/>
          </p:cNvSpPr>
          <p:nvPr/>
        </p:nvSpPr>
        <p:spPr>
          <a:xfrm xmlns:a="http://schemas.openxmlformats.org/drawingml/2006/main">
            <a:off x="742950" y="3629025"/>
            <a:ext cx="42195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D82"/>
                </a:solidFill>
                <a:latin typeface="Arial"/>
                <a:ea typeface="Arial"/>
                <a:cs typeface="Arial"/>
              </a:defRPr>
            </a:pPr>
            <a:r>
              <a:rPr sz="2025" b="0">
                <a:solidFill>
                  <a:srgbClr val="526D82"/>
                </a:solidFill>
                <a:latin typeface="Arial"/>
                <a:ea typeface="Arial"/>
                <a:cs typeface="Arial"/>
              </a:rPr>
              <a:t>24-year-old international student</a:t>
            </a:r>
          </a:p>
          <a:p xmlns:a="http://schemas.openxmlformats.org/drawingml/2006/main">
            <a:pPr algn="l">
              <a:defRPr sz="2025" b="0">
                <a:solidFill>
                  <a:srgbClr val="526D82"/>
                </a:solidFill>
                <a:latin typeface="Arial"/>
                <a:ea typeface="Arial"/>
                <a:cs typeface="Arial"/>
              </a:defRPr>
            </a:pPr>
            <a:r>
              <a:rPr sz="2025" b="0">
                <a:solidFill>
                  <a:srgbClr val="526D82"/>
                </a:solidFill>
                <a:latin typeface="Arial"/>
                <a:ea typeface="Arial"/>
                <a:cs typeface="Arial"/>
              </a:rPr>
              <a:t>New to Melbourne</a:t>
            </a:r>
          </a:p>
          <a:p xmlns:a="http://schemas.openxmlformats.org/drawingml/2006/main">
            <a:pPr algn="l">
              <a:defRPr sz="2025" b="0">
                <a:solidFill>
                  <a:srgbClr val="526D82"/>
                </a:solidFill>
                <a:latin typeface="Arial"/>
                <a:ea typeface="Arial"/>
                <a:cs typeface="Arial"/>
              </a:defRPr>
            </a:pPr>
            <a:r>
              <a:rPr sz="2025" b="0">
                <a:solidFill>
                  <a:srgbClr val="526D82"/>
                </a:solidFill>
                <a:latin typeface="Arial"/>
                <a:ea typeface="Arial"/>
                <a:cs typeface="Arial"/>
              </a:rPr>
              <a:t>Bupa OSHC member</a:t>
            </a:r>
          </a:p>
        </p:txBody>
      </p:sp>
      <p:sp>
        <p:nvSpPr>
          <p:cNvPr id="4" name="text-17">
            <a:extLst xmlns:a="http://schemas.openxmlformats.org/drawingml/2006/main">
              <a:ext uri="{FF2B5EF4-FFF2-40B4-BE49-F238E27FC236}">
                <a16:creationId xmlns:a16="http://schemas.microsoft.com/office/drawing/2014/main" id="{06747A61-3B40-4ECF-B56D-F1B06D0081B6}"/>
              </a:ext>
            </a:extLst>
          </p:cNvPr>
          <p:cNvSpPr>
            <a:spLocks xmlns:a="http://schemas.openxmlformats.org/drawingml/2006/main" noGrp="1"/>
          </p:cNvSpPr>
          <p:nvPr/>
        </p:nvSpPr>
        <p:spPr>
          <a:xfrm xmlns:a="http://schemas.openxmlformats.org/drawingml/2006/main">
            <a:off x="5819775" y="20859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01</a:t>
            </a:r>
          </a:p>
        </p:txBody>
      </p:sp>
      <p:sp>
        <p:nvSpPr>
          <p:cNvPr id="5" name="text-18">
            <a:extLst xmlns:a="http://schemas.openxmlformats.org/drawingml/2006/main">
              <a:ext uri="{FF2B5EF4-FFF2-40B4-BE49-F238E27FC236}">
                <a16:creationId xmlns:a16="http://schemas.microsoft.com/office/drawing/2014/main" id="{C25CD28B-A561-49FE-8A3F-8308684E15C4}"/>
              </a:ext>
            </a:extLst>
          </p:cNvPr>
          <p:cNvSpPr>
            <a:spLocks xmlns:a="http://schemas.openxmlformats.org/drawingml/2006/main" noGrp="1"/>
          </p:cNvSpPr>
          <p:nvPr/>
        </p:nvSpPr>
        <p:spPr>
          <a:xfrm xmlns:a="http://schemas.openxmlformats.org/drawingml/2006/main">
            <a:off x="6572250" y="20478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What does my cover include?</a:t>
            </a:r>
          </a:p>
        </p:txBody>
      </p:sp>
      <p:sp>
        <p:nvSpPr>
          <p:cNvPr id="6" name="text-19">
            <a:extLst xmlns:a="http://schemas.openxmlformats.org/drawingml/2006/main">
              <a:ext uri="{FF2B5EF4-FFF2-40B4-BE49-F238E27FC236}">
                <a16:creationId xmlns:a16="http://schemas.microsoft.com/office/drawing/2014/main" id="{0AE5F0C5-347E-459B-AC15-0A16DA8661BF}"/>
              </a:ext>
            </a:extLst>
          </p:cNvPr>
          <p:cNvSpPr>
            <a:spLocks xmlns:a="http://schemas.openxmlformats.org/drawingml/2006/main" noGrp="1"/>
          </p:cNvSpPr>
          <p:nvPr/>
        </p:nvSpPr>
        <p:spPr>
          <a:xfrm xmlns:a="http://schemas.openxmlformats.org/drawingml/2006/main">
            <a:off x="5819775" y="29813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02</a:t>
            </a:r>
          </a:p>
        </p:txBody>
      </p:sp>
      <p:sp>
        <p:nvSpPr>
          <p:cNvPr id="7" name="text-20">
            <a:extLst xmlns:a="http://schemas.openxmlformats.org/drawingml/2006/main">
              <a:ext uri="{FF2B5EF4-FFF2-40B4-BE49-F238E27FC236}">
                <a16:creationId xmlns:a16="http://schemas.microsoft.com/office/drawing/2014/main" id="{601351A0-FF81-4195-8488-E886417A40B4}"/>
              </a:ext>
            </a:extLst>
          </p:cNvPr>
          <p:cNvSpPr>
            <a:spLocks xmlns:a="http://schemas.openxmlformats.org/drawingml/2006/main" noGrp="1"/>
          </p:cNvSpPr>
          <p:nvPr/>
        </p:nvSpPr>
        <p:spPr>
          <a:xfrm xmlns:a="http://schemas.openxmlformats.org/drawingml/2006/main">
            <a:off x="6572250" y="294322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Where should I go?</a:t>
            </a:r>
          </a:p>
        </p:txBody>
      </p:sp>
      <p:sp>
        <p:nvSpPr>
          <p:cNvPr id="8" name="text-21">
            <a:extLst xmlns:a="http://schemas.openxmlformats.org/drawingml/2006/main">
              <a:ext uri="{FF2B5EF4-FFF2-40B4-BE49-F238E27FC236}">
                <a16:creationId xmlns:a16="http://schemas.microsoft.com/office/drawing/2014/main" id="{88579162-1E5F-47B0-8307-A40DED5B7753}"/>
              </a:ext>
            </a:extLst>
          </p:cNvPr>
          <p:cNvSpPr>
            <a:spLocks xmlns:a="http://schemas.openxmlformats.org/drawingml/2006/main" noGrp="1"/>
          </p:cNvSpPr>
          <p:nvPr/>
        </p:nvSpPr>
        <p:spPr>
          <a:xfrm xmlns:a="http://schemas.openxmlformats.org/drawingml/2006/main">
            <a:off x="5819775" y="38766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03</a:t>
            </a:r>
          </a:p>
        </p:txBody>
      </p:sp>
      <p:sp>
        <p:nvSpPr>
          <p:cNvPr id="9" name="text-22">
            <a:extLst xmlns:a="http://schemas.openxmlformats.org/drawingml/2006/main">
              <a:ext uri="{FF2B5EF4-FFF2-40B4-BE49-F238E27FC236}">
                <a16:creationId xmlns:a16="http://schemas.microsoft.com/office/drawing/2014/main" id="{5D293F63-B759-49CC-8C69-CCB5DD17D0B9}"/>
              </a:ext>
            </a:extLst>
          </p:cNvPr>
          <p:cNvSpPr>
            <a:spLocks xmlns:a="http://schemas.openxmlformats.org/drawingml/2006/main" noGrp="1"/>
          </p:cNvSpPr>
          <p:nvPr/>
        </p:nvSpPr>
        <p:spPr>
          <a:xfrm xmlns:a="http://schemas.openxmlformats.org/drawingml/2006/main">
            <a:off x="6572250" y="38385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Can I use my language?</a:t>
            </a:r>
          </a:p>
        </p:txBody>
      </p:sp>
      <p:sp>
        <p:nvSpPr>
          <p:cNvPr id="10" name="text-23">
            <a:extLst xmlns:a="http://schemas.openxmlformats.org/drawingml/2006/main">
              <a:ext uri="{FF2B5EF4-FFF2-40B4-BE49-F238E27FC236}">
                <a16:creationId xmlns:a16="http://schemas.microsoft.com/office/drawing/2014/main" id="{E4DB99FB-A65E-4F68-B971-A7BED7C29992}"/>
              </a:ext>
            </a:extLst>
          </p:cNvPr>
          <p:cNvSpPr>
            <a:spLocks xmlns:a="http://schemas.openxmlformats.org/drawingml/2006/main" noGrp="1"/>
          </p:cNvSpPr>
          <p:nvPr/>
        </p:nvSpPr>
        <p:spPr>
          <a:xfrm xmlns:a="http://schemas.openxmlformats.org/drawingml/2006/main">
            <a:off x="5819775" y="47720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04</a:t>
            </a:r>
          </a:p>
        </p:txBody>
      </p:sp>
      <p:sp>
        <p:nvSpPr>
          <p:cNvPr id="11" name="text-24">
            <a:extLst xmlns:a="http://schemas.openxmlformats.org/drawingml/2006/main">
              <a:ext uri="{FF2B5EF4-FFF2-40B4-BE49-F238E27FC236}">
                <a16:creationId xmlns:a16="http://schemas.microsoft.com/office/drawing/2014/main" id="{793C95CF-74A0-4A29-B054-DA1E79FB653D}"/>
              </a:ext>
            </a:extLst>
          </p:cNvPr>
          <p:cNvSpPr>
            <a:spLocks xmlns:a="http://schemas.openxmlformats.org/drawingml/2006/main" noGrp="1"/>
          </p:cNvSpPr>
          <p:nvPr/>
        </p:nvSpPr>
        <p:spPr>
          <a:xfrm xmlns:a="http://schemas.openxmlformats.org/drawingml/2006/main">
            <a:off x="6572250" y="473392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9C8"/>
                </a:solidFill>
                <a:latin typeface="Arial"/>
                <a:ea typeface="Arial"/>
                <a:cs typeface="Arial"/>
              </a:defRPr>
            </a:pPr>
            <a:r>
              <a:rPr sz="2625" b="1">
                <a:solidFill>
                  <a:srgbClr val="0079C8"/>
                </a:solidFill>
                <a:latin typeface="Arial"/>
                <a:ea typeface="Arial"/>
                <a:cs typeface="Arial"/>
              </a:rPr>
              <a:t>How do I get it done?</a:t>
            </a:r>
          </a:p>
        </p:txBody>
      </p:sp>
      <p:sp>
        <p:nvSpPr>
          <p:cNvPr id="12" name="text-25">
            <a:extLst xmlns:a="http://schemas.openxmlformats.org/drawingml/2006/main">
              <a:ext uri="{FF2B5EF4-FFF2-40B4-BE49-F238E27FC236}">
                <a16:creationId xmlns:a16="http://schemas.microsoft.com/office/drawing/2014/main" id="{E69C1447-4C91-4A99-8C19-3A18EF97C489}"/>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Illustrative persona</a:t>
            </a:r>
          </a:p>
        </p:txBody>
      </p:sp>
      <p:sp>
        <p:nvSpPr>
          <p:cNvPr id="13" name="text-26">
            <a:extLst xmlns:a="http://schemas.openxmlformats.org/drawingml/2006/main">
              <a:ext uri="{FF2B5EF4-FFF2-40B4-BE49-F238E27FC236}">
                <a16:creationId xmlns:a16="http://schemas.microsoft.com/office/drawing/2014/main" id="{0CCE330B-F68F-4E2C-B75B-D644F9404AC3}"/>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03 / 09</a:t>
            </a:r>
          </a:p>
        </p:txBody>
      </p:sp>
    </p:spTree>
    <p:extLst>
      <p:ext uri="{BB962C8B-B14F-4D97-AF65-F5344CB8AC3E}">
        <p14:creationId xmlns:p14="http://schemas.microsoft.com/office/powerpoint/2010/main" val="3987552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27">
            <a:extLst xmlns:a="http://schemas.openxmlformats.org/drawingml/2006/main">
              <a:ext uri="{FF2B5EF4-FFF2-40B4-BE49-F238E27FC236}">
                <a16:creationId xmlns:a16="http://schemas.microsoft.com/office/drawing/2014/main" id="{882203FA-5275-4E46-BC16-DB76AC12F5D0}"/>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Lin has to connect the steps</a:t>
            </a:r>
          </a:p>
        </p:txBody>
      </p:sp>
      <p:sp>
        <p:nvSpPr>
          <p:cNvPr id="2" name="text-28">
            <a:extLst xmlns:a="http://schemas.openxmlformats.org/drawingml/2006/main">
              <a:ext uri="{FF2B5EF4-FFF2-40B4-BE49-F238E27FC236}">
                <a16:creationId xmlns:a16="http://schemas.microsoft.com/office/drawing/2014/main" id="{E5BD9D03-BCEB-43EC-BFBB-0B33DD5998F8}"/>
              </a:ext>
            </a:extLst>
          </p:cNvPr>
          <p:cNvSpPr>
            <a:spLocks xmlns:a="http://schemas.openxmlformats.org/drawingml/2006/main" noGrp="1"/>
          </p:cNvSpPr>
          <p:nvPr/>
        </p:nvSpPr>
        <p:spPr>
          <a:xfrm xmlns:a="http://schemas.openxmlformats.org/drawingml/2006/main">
            <a:off x="752475" y="220980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79C8"/>
                </a:solidFill>
                <a:latin typeface="Arial"/>
                <a:ea typeface="Arial"/>
                <a:cs typeface="Arial"/>
              </a:defRPr>
            </a:pPr>
            <a:r>
              <a:rPr sz="2700" b="0">
                <a:solidFill>
                  <a:srgbClr val="0079C8"/>
                </a:solidFill>
                <a:latin typeface="Arial"/>
                <a:ea typeface="Arial"/>
                <a:cs typeface="Arial"/>
              </a:rPr>
              <a:t>01</a:t>
            </a:r>
          </a:p>
        </p:txBody>
      </p:sp>
      <p:sp>
        <p:nvSpPr>
          <p:cNvPr id="3" name="text-29">
            <a:extLst xmlns:a="http://schemas.openxmlformats.org/drawingml/2006/main">
              <a:ext uri="{FF2B5EF4-FFF2-40B4-BE49-F238E27FC236}">
                <a16:creationId xmlns:a16="http://schemas.microsoft.com/office/drawing/2014/main" id="{A2876497-C4A1-4CD9-AC93-8D43BC363906}"/>
              </a:ext>
            </a:extLst>
          </p:cNvPr>
          <p:cNvSpPr>
            <a:spLocks xmlns:a="http://schemas.openxmlformats.org/drawingml/2006/main" noGrp="1"/>
          </p:cNvSpPr>
          <p:nvPr/>
        </p:nvSpPr>
        <p:spPr>
          <a:xfrm xmlns:a="http://schemas.openxmlformats.org/drawingml/2006/main">
            <a:off x="1771650" y="2181225"/>
            <a:ext cx="990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073B60"/>
                </a:solidFill>
                <a:latin typeface="Arial"/>
                <a:ea typeface="Arial"/>
                <a:cs typeface="Arial"/>
              </a:defRPr>
            </a:pPr>
            <a:r>
              <a:rPr sz="3225" b="0">
                <a:solidFill>
                  <a:srgbClr val="073B60"/>
                </a:solidFill>
                <a:latin typeface="Arial"/>
                <a:ea typeface="Arial"/>
                <a:cs typeface="Arial"/>
              </a:rPr>
              <a:t>Get an answer</a:t>
            </a:r>
          </a:p>
        </p:txBody>
      </p:sp>
      <p:sp>
        <p:nvSpPr>
          <p:cNvPr id="4" name="text-30">
            <a:extLst xmlns:a="http://schemas.openxmlformats.org/drawingml/2006/main">
              <a:ext uri="{FF2B5EF4-FFF2-40B4-BE49-F238E27FC236}">
                <a16:creationId xmlns:a16="http://schemas.microsoft.com/office/drawing/2014/main" id="{5BA790D5-4325-490E-AAC6-80718839836B}"/>
              </a:ext>
            </a:extLst>
          </p:cNvPr>
          <p:cNvSpPr>
            <a:spLocks xmlns:a="http://schemas.openxmlformats.org/drawingml/2006/main" noGrp="1"/>
          </p:cNvSpPr>
          <p:nvPr/>
        </p:nvSpPr>
        <p:spPr>
          <a:xfrm xmlns:a="http://schemas.openxmlformats.org/drawingml/2006/main">
            <a:off x="752475" y="321945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79C8"/>
                </a:solidFill>
                <a:latin typeface="Arial"/>
                <a:ea typeface="Arial"/>
                <a:cs typeface="Arial"/>
              </a:defRPr>
            </a:pPr>
            <a:r>
              <a:rPr sz="2700" b="0">
                <a:solidFill>
                  <a:srgbClr val="0079C8"/>
                </a:solidFill>
                <a:latin typeface="Arial"/>
                <a:ea typeface="Arial"/>
                <a:cs typeface="Arial"/>
              </a:rPr>
              <a:t>02</a:t>
            </a:r>
          </a:p>
        </p:txBody>
      </p:sp>
      <p:sp>
        <p:nvSpPr>
          <p:cNvPr id="5" name="text-31">
            <a:extLst xmlns:a="http://schemas.openxmlformats.org/drawingml/2006/main">
              <a:ext uri="{FF2B5EF4-FFF2-40B4-BE49-F238E27FC236}">
                <a16:creationId xmlns:a16="http://schemas.microsoft.com/office/drawing/2014/main" id="{89767088-6F88-4248-BF1E-D477F1B6D6E0}"/>
              </a:ext>
            </a:extLst>
          </p:cNvPr>
          <p:cNvSpPr>
            <a:spLocks xmlns:a="http://schemas.openxmlformats.org/drawingml/2006/main" noGrp="1"/>
          </p:cNvSpPr>
          <p:nvPr/>
        </p:nvSpPr>
        <p:spPr>
          <a:xfrm xmlns:a="http://schemas.openxmlformats.org/drawingml/2006/main">
            <a:off x="1771650" y="3190875"/>
            <a:ext cx="990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073B60"/>
                </a:solidFill>
                <a:latin typeface="Arial"/>
                <a:ea typeface="Arial"/>
                <a:cs typeface="Arial"/>
              </a:defRPr>
            </a:pPr>
            <a:r>
              <a:rPr sz="3225" b="0">
                <a:solidFill>
                  <a:srgbClr val="073B60"/>
                </a:solidFill>
                <a:latin typeface="Arial"/>
                <a:ea typeface="Arial"/>
                <a:cs typeface="Arial"/>
              </a:rPr>
              <a:t>Find another screen</a:t>
            </a:r>
          </a:p>
        </p:txBody>
      </p:sp>
      <p:sp>
        <p:nvSpPr>
          <p:cNvPr id="6" name="text-32">
            <a:extLst xmlns:a="http://schemas.openxmlformats.org/drawingml/2006/main">
              <a:ext uri="{FF2B5EF4-FFF2-40B4-BE49-F238E27FC236}">
                <a16:creationId xmlns:a16="http://schemas.microsoft.com/office/drawing/2014/main" id="{F4B3F8B7-457D-4B28-8CBE-3B250595CAC9}"/>
              </a:ext>
            </a:extLst>
          </p:cNvPr>
          <p:cNvSpPr>
            <a:spLocks xmlns:a="http://schemas.openxmlformats.org/drawingml/2006/main" noGrp="1"/>
          </p:cNvSpPr>
          <p:nvPr/>
        </p:nvSpPr>
        <p:spPr>
          <a:xfrm xmlns:a="http://schemas.openxmlformats.org/drawingml/2006/main">
            <a:off x="752475" y="422910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79C8"/>
                </a:solidFill>
                <a:latin typeface="Arial"/>
                <a:ea typeface="Arial"/>
                <a:cs typeface="Arial"/>
              </a:defRPr>
            </a:pPr>
            <a:r>
              <a:rPr sz="2700" b="0">
                <a:solidFill>
                  <a:srgbClr val="0079C8"/>
                </a:solidFill>
                <a:latin typeface="Arial"/>
                <a:ea typeface="Arial"/>
                <a:cs typeface="Arial"/>
              </a:rPr>
              <a:t>03</a:t>
            </a:r>
          </a:p>
        </p:txBody>
      </p:sp>
      <p:sp>
        <p:nvSpPr>
          <p:cNvPr id="7" name="text-33">
            <a:extLst xmlns:a="http://schemas.openxmlformats.org/drawingml/2006/main">
              <a:ext uri="{FF2B5EF4-FFF2-40B4-BE49-F238E27FC236}">
                <a16:creationId xmlns:a16="http://schemas.microsoft.com/office/drawing/2014/main" id="{94F0F564-8CD2-4077-895E-7A1567B4A01B}"/>
              </a:ext>
            </a:extLst>
          </p:cNvPr>
          <p:cNvSpPr>
            <a:spLocks xmlns:a="http://schemas.openxmlformats.org/drawingml/2006/main" noGrp="1"/>
          </p:cNvSpPr>
          <p:nvPr/>
        </p:nvSpPr>
        <p:spPr>
          <a:xfrm xmlns:a="http://schemas.openxmlformats.org/drawingml/2006/main">
            <a:off x="1771650" y="4200525"/>
            <a:ext cx="990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73B60"/>
                </a:solidFill>
                <a:latin typeface="Arial"/>
                <a:ea typeface="Arial"/>
                <a:cs typeface="Arial"/>
              </a:defRPr>
            </a:pPr>
            <a:r>
              <a:rPr sz="3225" b="1">
                <a:solidFill>
                  <a:srgbClr val="073B60"/>
                </a:solidFill>
                <a:latin typeface="Arial"/>
                <a:ea typeface="Arial"/>
                <a:cs typeface="Arial"/>
              </a:rPr>
              <a:t>Enter the details again</a:t>
            </a:r>
          </a:p>
        </p:txBody>
      </p:sp>
      <p:sp>
        <p:nvSpPr>
          <p:cNvPr id="8" name="text-34">
            <a:extLst xmlns:a="http://schemas.openxmlformats.org/drawingml/2006/main">
              <a:ext uri="{FF2B5EF4-FFF2-40B4-BE49-F238E27FC236}">
                <a16:creationId xmlns:a16="http://schemas.microsoft.com/office/drawing/2014/main" id="{C7C112EC-9EC5-4F84-B4C8-E37BFB827916}"/>
              </a:ext>
            </a:extLst>
          </p:cNvPr>
          <p:cNvSpPr>
            <a:spLocks xmlns:a="http://schemas.openxmlformats.org/drawingml/2006/main" noGrp="1"/>
          </p:cNvSpPr>
          <p:nvPr/>
        </p:nvSpPr>
        <p:spPr>
          <a:xfrm xmlns:a="http://schemas.openxmlformats.org/drawingml/2006/main">
            <a:off x="742950" y="55530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79C8"/>
                </a:solidFill>
                <a:latin typeface="Arial"/>
                <a:ea typeface="Arial"/>
                <a:cs typeface="Arial"/>
              </a:defRPr>
            </a:pPr>
            <a:r>
              <a:rPr sz="2025" b="1">
                <a:solidFill>
                  <a:srgbClr val="0079C8"/>
                </a:solidFill>
                <a:latin typeface="Arial"/>
                <a:ea typeface="Arial"/>
                <a:cs typeface="Arial"/>
              </a:rPr>
              <a:t>Carry her authorised context into the next step.</a:t>
            </a:r>
          </a:p>
        </p:txBody>
      </p:sp>
      <p:sp>
        <p:nvSpPr>
          <p:cNvPr id="9" name="text-35">
            <a:extLst xmlns:a="http://schemas.openxmlformats.org/drawingml/2006/main">
              <a:ext uri="{FF2B5EF4-FFF2-40B4-BE49-F238E27FC236}">
                <a16:creationId xmlns:a16="http://schemas.microsoft.com/office/drawing/2014/main" id="{68787EC3-4C6F-434D-846F-CCD86E821414}"/>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Journey hypothesis to validate with members</a:t>
            </a:r>
          </a:p>
        </p:txBody>
      </p:sp>
      <p:sp>
        <p:nvSpPr>
          <p:cNvPr id="10" name="text-36">
            <a:extLst xmlns:a="http://schemas.openxmlformats.org/drawingml/2006/main">
              <a:ext uri="{FF2B5EF4-FFF2-40B4-BE49-F238E27FC236}">
                <a16:creationId xmlns:a16="http://schemas.microsoft.com/office/drawing/2014/main" id="{16FA10B2-0A46-474F-83A8-A0AABD9F945D}"/>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04 / 09</a:t>
            </a:r>
          </a:p>
        </p:txBody>
      </p:sp>
    </p:spTree>
    <p:extLst>
      <p:ext uri="{BB962C8B-B14F-4D97-AF65-F5344CB8AC3E}">
        <p14:creationId xmlns:p14="http://schemas.microsoft.com/office/powerpoint/2010/main" val="17275464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37">
            <a:extLst xmlns:a="http://schemas.openxmlformats.org/drawingml/2006/main">
              <a:ext uri="{FF2B5EF4-FFF2-40B4-BE49-F238E27FC236}">
                <a16:creationId xmlns:a16="http://schemas.microsoft.com/office/drawing/2014/main" id="{29A910F1-6921-48EC-BE9C-0CB9416FF480}"/>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One request, a connected journey</a:t>
            </a:r>
          </a:p>
        </p:txBody>
      </p:sp>
      <p:sp>
        <p:nvSpPr>
          <p:cNvPr id="2" name="text-38">
            <a:extLst xmlns:a="http://schemas.openxmlformats.org/drawingml/2006/main">
              <a:ext uri="{FF2B5EF4-FFF2-40B4-BE49-F238E27FC236}">
                <a16:creationId xmlns:a16="http://schemas.microsoft.com/office/drawing/2014/main" id="{7309F66B-9EC4-4C1F-9171-83746EC1967B}"/>
              </a:ext>
            </a:extLst>
          </p:cNvPr>
          <p:cNvSpPr>
            <a:spLocks xmlns:a="http://schemas.openxmlformats.org/drawingml/2006/main" noGrp="1"/>
          </p:cNvSpPr>
          <p:nvPr/>
        </p:nvSpPr>
        <p:spPr>
          <a:xfrm xmlns:a="http://schemas.openxmlformats.org/drawingml/2006/main">
            <a:off x="695325" y="2152650"/>
            <a:ext cx="309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9C8"/>
                </a:solidFill>
                <a:latin typeface="Arial"/>
                <a:ea typeface="Arial"/>
                <a:cs typeface="Arial"/>
              </a:defRPr>
            </a:pPr>
            <a:r>
              <a:rPr sz="2250" b="1">
                <a:solidFill>
                  <a:srgbClr val="0079C8"/>
                </a:solidFill>
                <a:latin typeface="Arial"/>
                <a:ea typeface="Arial"/>
                <a:cs typeface="Arial"/>
              </a:rPr>
              <a:t>AI Agent</a:t>
            </a:r>
          </a:p>
        </p:txBody>
      </p:sp>
      <p:sp>
        <p:nvSpPr>
          <p:cNvPr id="3" name="text-39">
            <a:extLst xmlns:a="http://schemas.openxmlformats.org/drawingml/2006/main">
              <a:ext uri="{FF2B5EF4-FFF2-40B4-BE49-F238E27FC236}">
                <a16:creationId xmlns:a16="http://schemas.microsoft.com/office/drawing/2014/main" id="{FC13B352-7EE8-4434-B5EB-E9D62E11D782}"/>
              </a:ext>
            </a:extLst>
          </p:cNvPr>
          <p:cNvSpPr>
            <a:spLocks xmlns:a="http://schemas.openxmlformats.org/drawingml/2006/main" noGrp="1"/>
          </p:cNvSpPr>
          <p:nvPr/>
        </p:nvSpPr>
        <p:spPr>
          <a:xfrm xmlns:a="http://schemas.openxmlformats.org/drawingml/2006/main">
            <a:off x="704850" y="2600325"/>
            <a:ext cx="3095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Explain and prepare</a:t>
            </a:r>
          </a:p>
        </p:txBody>
      </p:sp>
      <p:sp>
        <p:nvSpPr>
          <p:cNvPr id="4" name="text-40">
            <a:extLst xmlns:a="http://schemas.openxmlformats.org/drawingml/2006/main">
              <a:ext uri="{FF2B5EF4-FFF2-40B4-BE49-F238E27FC236}">
                <a16:creationId xmlns:a16="http://schemas.microsoft.com/office/drawing/2014/main" id="{E7C1CF80-BBDF-4F67-AE3F-31D2DFA984B1}"/>
              </a:ext>
            </a:extLst>
          </p:cNvPr>
          <p:cNvSpPr>
            <a:spLocks xmlns:a="http://schemas.openxmlformats.org/drawingml/2006/main" noGrp="1"/>
          </p:cNvSpPr>
          <p:nvPr/>
        </p:nvSpPr>
        <p:spPr>
          <a:xfrm xmlns:a="http://schemas.openxmlformats.org/drawingml/2006/main">
            <a:off x="695325" y="3448050"/>
            <a:ext cx="309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9C8"/>
                </a:solidFill>
                <a:latin typeface="Arial"/>
                <a:ea typeface="Arial"/>
                <a:cs typeface="Arial"/>
              </a:defRPr>
            </a:pPr>
            <a:r>
              <a:rPr sz="2250" b="1">
                <a:solidFill>
                  <a:srgbClr val="0079C8"/>
                </a:solidFill>
                <a:latin typeface="Arial"/>
                <a:ea typeface="Arial"/>
                <a:cs typeface="Arial"/>
              </a:rPr>
              <a:t>Profile</a:t>
            </a:r>
          </a:p>
        </p:txBody>
      </p:sp>
      <p:sp>
        <p:nvSpPr>
          <p:cNvPr id="5" name="text-41">
            <a:extLst xmlns:a="http://schemas.openxmlformats.org/drawingml/2006/main">
              <a:ext uri="{FF2B5EF4-FFF2-40B4-BE49-F238E27FC236}">
                <a16:creationId xmlns:a16="http://schemas.microsoft.com/office/drawing/2014/main" id="{F87EC316-74D9-4CE8-A638-EE040B86590C}"/>
              </a:ext>
            </a:extLst>
          </p:cNvPr>
          <p:cNvSpPr>
            <a:spLocks xmlns:a="http://schemas.openxmlformats.org/drawingml/2006/main" noGrp="1"/>
          </p:cNvSpPr>
          <p:nvPr/>
        </p:nvSpPr>
        <p:spPr>
          <a:xfrm xmlns:a="http://schemas.openxmlformats.org/drawingml/2006/main">
            <a:off x="704850" y="3895725"/>
            <a:ext cx="3095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Control permitted data use</a:t>
            </a:r>
          </a:p>
        </p:txBody>
      </p:sp>
      <p:sp>
        <p:nvSpPr>
          <p:cNvPr id="6" name="text-42">
            <a:extLst xmlns:a="http://schemas.openxmlformats.org/drawingml/2006/main">
              <a:ext uri="{FF2B5EF4-FFF2-40B4-BE49-F238E27FC236}">
                <a16:creationId xmlns:a16="http://schemas.microsoft.com/office/drawing/2014/main" id="{9492DCAC-F771-42E2-9914-07B9D4480CB4}"/>
              </a:ext>
            </a:extLst>
          </p:cNvPr>
          <p:cNvSpPr>
            <a:spLocks xmlns:a="http://schemas.openxmlformats.org/drawingml/2006/main" noGrp="1"/>
          </p:cNvSpPr>
          <p:nvPr/>
        </p:nvSpPr>
        <p:spPr>
          <a:xfrm xmlns:a="http://schemas.openxmlformats.org/drawingml/2006/main">
            <a:off x="695325" y="4743450"/>
            <a:ext cx="309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9C8"/>
                </a:solidFill>
                <a:latin typeface="Arial"/>
                <a:ea typeface="Arial"/>
                <a:cs typeface="Arial"/>
              </a:defRPr>
            </a:pPr>
            <a:r>
              <a:rPr sz="2250" b="1">
                <a:solidFill>
                  <a:srgbClr val="0079C8"/>
                </a:solidFill>
                <a:latin typeface="Arial"/>
                <a:ea typeface="Arial"/>
                <a:cs typeface="Arial"/>
              </a:rPr>
              <a:t>Dashboard</a:t>
            </a:r>
          </a:p>
        </p:txBody>
      </p:sp>
      <p:sp>
        <p:nvSpPr>
          <p:cNvPr id="7" name="text-43">
            <a:extLst xmlns:a="http://schemas.openxmlformats.org/drawingml/2006/main">
              <a:ext uri="{FF2B5EF4-FFF2-40B4-BE49-F238E27FC236}">
                <a16:creationId xmlns:a16="http://schemas.microsoft.com/office/drawing/2014/main" id="{780CB422-D7DA-4EC8-BAEE-9E1914937107}"/>
              </a:ext>
            </a:extLst>
          </p:cNvPr>
          <p:cNvSpPr>
            <a:spLocks xmlns:a="http://schemas.openxmlformats.org/drawingml/2006/main" noGrp="1"/>
          </p:cNvSpPr>
          <p:nvPr/>
        </p:nvSpPr>
        <p:spPr>
          <a:xfrm xmlns:a="http://schemas.openxmlformats.org/drawingml/2006/main">
            <a:off x="704850" y="5191125"/>
            <a:ext cx="3095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Keep the result together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082a6136d6e42b0"/>
          <a:stretch xmlns:a="http://schemas.openxmlformats.org/drawingml/2006/main"/>
        </p:blipFill>
        <p:spPr>
          <a:xfrm xmlns:a="http://schemas.openxmlformats.org/drawingml/2006/main">
            <a:off x="4998607" y="2114550"/>
            <a:ext cx="5499961" cy="3886200"/>
          </a:xfrm>
          <a:prstGeom xmlns:a="http://schemas.openxmlformats.org/drawingml/2006/main" prst="rect">
            <a:avLst/>
          </a:prstGeom>
        </p:spPr>
      </p:pic>
      <p:sp>
        <p:nvSpPr>
          <p:cNvPr id="9" name="text-44">
            <a:extLst xmlns:a="http://schemas.openxmlformats.org/drawingml/2006/main">
              <a:ext uri="{FF2B5EF4-FFF2-40B4-BE49-F238E27FC236}">
                <a16:creationId xmlns:a16="http://schemas.microsoft.com/office/drawing/2014/main" id="{3604ACE7-AB92-4A34-90BF-0856D67D1A56}"/>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The Agent prepares. You review and submit.  /  Local prototype, fictional data.</a:t>
            </a:r>
          </a:p>
        </p:txBody>
      </p:sp>
      <p:sp>
        <p:nvSpPr>
          <p:cNvPr id="10" name="text-45">
            <a:extLst xmlns:a="http://schemas.openxmlformats.org/drawingml/2006/main">
              <a:ext uri="{FF2B5EF4-FFF2-40B4-BE49-F238E27FC236}">
                <a16:creationId xmlns:a16="http://schemas.microsoft.com/office/drawing/2014/main" id="{672D53F1-00A4-41F1-A697-29BEC109B26E}"/>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05 / 09</a:t>
            </a:r>
          </a:p>
        </p:txBody>
      </p:sp>
    </p:spTree>
    <p:extLst>
      <p:ext uri="{BB962C8B-B14F-4D97-AF65-F5344CB8AC3E}">
        <p14:creationId xmlns:p14="http://schemas.microsoft.com/office/powerpoint/2010/main" val="12531365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46">
            <a:extLst xmlns:a="http://schemas.openxmlformats.org/drawingml/2006/main">
              <a:ext uri="{FF2B5EF4-FFF2-40B4-BE49-F238E27FC236}">
                <a16:creationId xmlns:a16="http://schemas.microsoft.com/office/drawing/2014/main" id="{20B126BE-9114-4824-BF0B-B516D0D78FA5}"/>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Lin’s first GP booking</a:t>
            </a:r>
          </a:p>
        </p:txBody>
      </p:sp>
      <p:sp>
        <p:nvSpPr>
          <p:cNvPr id="2" name="text-47">
            <a:extLst xmlns:a="http://schemas.openxmlformats.org/drawingml/2006/main">
              <a:ext uri="{FF2B5EF4-FFF2-40B4-BE49-F238E27FC236}">
                <a16:creationId xmlns:a16="http://schemas.microsoft.com/office/drawing/2014/main" id="{315B8ACA-1AAA-4E6E-936B-1CE5C38A9459}"/>
              </a:ext>
            </a:extLst>
          </p:cNvPr>
          <p:cNvSpPr>
            <a:spLocks xmlns:a="http://schemas.openxmlformats.org/drawingml/2006/main" noGrp="1"/>
          </p:cNvSpPr>
          <p:nvPr/>
        </p:nvSpPr>
        <p:spPr>
          <a:xfrm xmlns:a="http://schemas.openxmlformats.org/drawingml/2006/main">
            <a:off x="723900" y="2124075"/>
            <a:ext cx="4200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Ask in Chinese</a:t>
            </a:r>
          </a:p>
        </p:txBody>
      </p:sp>
      <p:sp>
        <p:nvSpPr>
          <p:cNvPr id="3" name="text-48">
            <a:extLst xmlns:a="http://schemas.openxmlformats.org/drawingml/2006/main">
              <a:ext uri="{FF2B5EF4-FFF2-40B4-BE49-F238E27FC236}">
                <a16:creationId xmlns:a16="http://schemas.microsoft.com/office/drawing/2014/main" id="{068294EC-800B-4BA0-A36E-A87D41D3275B}"/>
              </a:ext>
            </a:extLst>
          </p:cNvPr>
          <p:cNvSpPr>
            <a:spLocks xmlns:a="http://schemas.openxmlformats.org/drawingml/2006/main" noGrp="1"/>
          </p:cNvSpPr>
          <p:nvPr/>
        </p:nvSpPr>
        <p:spPr>
          <a:xfrm xmlns:a="http://schemas.openxmlformats.org/drawingml/2006/main">
            <a:off x="723900" y="2562225"/>
            <a:ext cx="4162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D82"/>
                </a:solidFill>
                <a:latin typeface="Arial"/>
                <a:ea typeface="Arial"/>
                <a:cs typeface="Arial"/>
              </a:defRPr>
            </a:pPr>
            <a:r>
              <a:rPr sz="1800" b="0">
                <a:solidFill>
                  <a:srgbClr val="526D82"/>
                </a:solidFill>
                <a:latin typeface="Arial"/>
                <a:ea typeface="Arial"/>
                <a:cs typeface="Arial"/>
              </a:rPr>
              <a:t>Understand the cover context</a:t>
            </a:r>
          </a:p>
        </p:txBody>
      </p:sp>
      <p:sp>
        <p:nvSpPr>
          <p:cNvPr id="4" name="text-49">
            <a:extLst xmlns:a="http://schemas.openxmlformats.org/drawingml/2006/main">
              <a:ext uri="{FF2B5EF4-FFF2-40B4-BE49-F238E27FC236}">
                <a16:creationId xmlns:a16="http://schemas.microsoft.com/office/drawing/2014/main" id="{CB5A6F0F-F900-49C3-9627-F352CE142765}"/>
              </a:ext>
            </a:extLst>
          </p:cNvPr>
          <p:cNvSpPr>
            <a:spLocks xmlns:a="http://schemas.openxmlformats.org/drawingml/2006/main" noGrp="1"/>
          </p:cNvSpPr>
          <p:nvPr/>
        </p:nvSpPr>
        <p:spPr>
          <a:xfrm xmlns:a="http://schemas.openxmlformats.org/drawingml/2006/main">
            <a:off x="723900" y="3343275"/>
            <a:ext cx="4171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9C8"/>
                </a:solidFill>
                <a:latin typeface="Arial"/>
                <a:ea typeface="Arial"/>
                <a:cs typeface="Arial"/>
              </a:defRPr>
            </a:pPr>
            <a:r>
              <a:rPr sz="2175" b="1">
                <a:solidFill>
                  <a:srgbClr val="0079C8"/>
                </a:solidFill>
                <a:latin typeface="Arial"/>
                <a:ea typeface="Arial"/>
                <a:cs typeface="Arial"/>
              </a:rPr>
              <a:t>Share a postcode</a:t>
            </a:r>
          </a:p>
        </p:txBody>
      </p:sp>
      <p:sp>
        <p:nvSpPr>
          <p:cNvPr id="5" name="text-50">
            <a:extLst xmlns:a="http://schemas.openxmlformats.org/drawingml/2006/main">
              <a:ext uri="{FF2B5EF4-FFF2-40B4-BE49-F238E27FC236}">
                <a16:creationId xmlns:a16="http://schemas.microsoft.com/office/drawing/2014/main" id="{653FD983-7E38-42FA-9C1E-51A3A911EB7B}"/>
              </a:ext>
            </a:extLst>
          </p:cNvPr>
          <p:cNvSpPr>
            <a:spLocks xmlns:a="http://schemas.openxmlformats.org/drawingml/2006/main" noGrp="1"/>
          </p:cNvSpPr>
          <p:nvPr/>
        </p:nvSpPr>
        <p:spPr>
          <a:xfrm xmlns:a="http://schemas.openxmlformats.org/drawingml/2006/main">
            <a:off x="723900" y="3790950"/>
            <a:ext cx="414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D82"/>
                </a:solidFill>
                <a:latin typeface="Arial"/>
                <a:ea typeface="Arial"/>
                <a:cs typeface="Arial"/>
              </a:defRPr>
            </a:pPr>
            <a:r>
              <a:rPr sz="1800" b="0">
                <a:solidFill>
                  <a:srgbClr val="526D82"/>
                </a:solidFill>
                <a:latin typeface="Arial"/>
                <a:ea typeface="Arial"/>
                <a:cs typeface="Arial"/>
              </a:rPr>
              <a:t>A clear purpose and a choice</a:t>
            </a:r>
          </a:p>
        </p:txBody>
      </p:sp>
      <p:sp>
        <p:nvSpPr>
          <p:cNvPr id="6" name="text-51">
            <a:extLst xmlns:a="http://schemas.openxmlformats.org/drawingml/2006/main">
              <a:ext uri="{FF2B5EF4-FFF2-40B4-BE49-F238E27FC236}">
                <a16:creationId xmlns:a16="http://schemas.microsoft.com/office/drawing/2014/main" id="{DBD54045-CF16-4334-8FDC-36A3F86478D6}"/>
              </a:ext>
            </a:extLst>
          </p:cNvPr>
          <p:cNvSpPr>
            <a:spLocks xmlns:a="http://schemas.openxmlformats.org/drawingml/2006/main" noGrp="1"/>
          </p:cNvSpPr>
          <p:nvPr/>
        </p:nvSpPr>
        <p:spPr>
          <a:xfrm xmlns:a="http://schemas.openxmlformats.org/drawingml/2006/main">
            <a:off x="723900" y="4581525"/>
            <a:ext cx="4171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Review and submit</a:t>
            </a:r>
          </a:p>
        </p:txBody>
      </p:sp>
      <p:sp>
        <p:nvSpPr>
          <p:cNvPr id="7" name="text-52">
            <a:extLst xmlns:a="http://schemas.openxmlformats.org/drawingml/2006/main">
              <a:ext uri="{FF2B5EF4-FFF2-40B4-BE49-F238E27FC236}">
                <a16:creationId xmlns:a16="http://schemas.microsoft.com/office/drawing/2014/main" id="{D8E6B5BF-C4CB-46BC-96F8-11735347C905}"/>
              </a:ext>
            </a:extLst>
          </p:cNvPr>
          <p:cNvSpPr>
            <a:spLocks xmlns:a="http://schemas.openxmlformats.org/drawingml/2006/main" noGrp="1"/>
          </p:cNvSpPr>
          <p:nvPr/>
        </p:nvSpPr>
        <p:spPr>
          <a:xfrm xmlns:a="http://schemas.openxmlformats.org/drawingml/2006/main">
            <a:off x="723900" y="5029200"/>
            <a:ext cx="41052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D82"/>
                </a:solidFill>
                <a:latin typeface="Arial"/>
                <a:ea typeface="Arial"/>
                <a:cs typeface="Arial"/>
              </a:defRPr>
            </a:pPr>
            <a:r>
              <a:rPr sz="1800" b="0">
                <a:solidFill>
                  <a:srgbClr val="526D82"/>
                </a:solidFill>
                <a:latin typeface="Arial"/>
                <a:ea typeface="Arial"/>
                <a:cs typeface="Arial"/>
              </a:rPr>
              <a:t>The appointment lands on Dashboard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04d188758784691"/>
          <a:stretch xmlns:a="http://schemas.openxmlformats.org/drawingml/2006/main"/>
        </p:blipFill>
        <p:spPr>
          <a:xfrm xmlns:a="http://schemas.openxmlformats.org/drawingml/2006/main">
            <a:off x="4819650" y="2443513"/>
            <a:ext cx="6705600" cy="3085399"/>
          </a:xfrm>
          <a:prstGeom xmlns:a="http://schemas.openxmlformats.org/drawingml/2006/main" prst="rect">
            <a:avLst/>
          </a:prstGeom>
        </p:spPr>
      </p:pic>
      <p:sp>
        <p:nvSpPr>
          <p:cNvPr id="9" name="text-53">
            <a:extLst xmlns:a="http://schemas.openxmlformats.org/drawingml/2006/main">
              <a:ext uri="{FF2B5EF4-FFF2-40B4-BE49-F238E27FC236}">
                <a16:creationId xmlns:a16="http://schemas.microsoft.com/office/drawing/2014/main" id="{4E65760A-C06F-46FC-A504-55F007F8F690}"/>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Scripted demo. Fictional member, cover and clinic data.</a:t>
            </a:r>
          </a:p>
        </p:txBody>
      </p:sp>
      <p:sp>
        <p:nvSpPr>
          <p:cNvPr id="10" name="text-54">
            <a:extLst xmlns:a="http://schemas.openxmlformats.org/drawingml/2006/main">
              <a:ext uri="{FF2B5EF4-FFF2-40B4-BE49-F238E27FC236}">
                <a16:creationId xmlns:a16="http://schemas.microsoft.com/office/drawing/2014/main" id="{EDBC8017-138A-4428-BF28-EAA7DCB7F288}"/>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06 / 09</a:t>
            </a:r>
          </a:p>
        </p:txBody>
      </p:sp>
    </p:spTree>
    <p:extLst>
      <p:ext uri="{BB962C8B-B14F-4D97-AF65-F5344CB8AC3E}">
        <p14:creationId xmlns:p14="http://schemas.microsoft.com/office/powerpoint/2010/main" val="16297427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5">
            <a:extLst xmlns:a="http://schemas.openxmlformats.org/drawingml/2006/main">
              <a:ext uri="{FF2B5EF4-FFF2-40B4-BE49-F238E27FC236}">
                <a16:creationId xmlns:a16="http://schemas.microsoft.com/office/drawing/2014/main" id="{BDC82CA3-9898-4B73-87F9-7D8F5037E0AB}"/>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A useful next step,</a:t>
            </a:r>
          </a:p>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with permission</a:t>
            </a:r>
          </a:p>
        </p:txBody>
      </p:sp>
      <p:sp>
        <p:nvSpPr>
          <p:cNvPr id="2" name="text-56">
            <a:extLst xmlns:a="http://schemas.openxmlformats.org/drawingml/2006/main">
              <a:ext uri="{FF2B5EF4-FFF2-40B4-BE49-F238E27FC236}">
                <a16:creationId xmlns:a16="http://schemas.microsoft.com/office/drawing/2014/main" id="{A2AF714A-EC58-4B93-9BEA-CD6BDDF7ED83}"/>
              </a:ext>
            </a:extLst>
          </p:cNvPr>
          <p:cNvSpPr>
            <a:spLocks xmlns:a="http://schemas.openxmlformats.org/drawingml/2006/main" noGrp="1"/>
          </p:cNvSpPr>
          <p:nvPr/>
        </p:nvSpPr>
        <p:spPr>
          <a:xfrm xmlns:a="http://schemas.openxmlformats.org/drawingml/2006/main">
            <a:off x="714375" y="2352675"/>
            <a:ext cx="3495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9C8"/>
                </a:solidFill>
                <a:latin typeface="Arial"/>
                <a:ea typeface="Arial"/>
                <a:cs typeface="Arial"/>
              </a:defRPr>
            </a:pPr>
            <a:r>
              <a:rPr sz="2100" b="1">
                <a:solidFill>
                  <a:srgbClr val="0079C8"/>
                </a:solidFill>
                <a:latin typeface="Arial"/>
                <a:ea typeface="Arial"/>
                <a:cs typeface="Arial"/>
              </a:rPr>
              <a:t>Earlier</a:t>
            </a:r>
          </a:p>
        </p:txBody>
      </p:sp>
      <p:sp>
        <p:nvSpPr>
          <p:cNvPr id="3" name="text-57">
            <a:extLst xmlns:a="http://schemas.openxmlformats.org/drawingml/2006/main">
              <a:ext uri="{FF2B5EF4-FFF2-40B4-BE49-F238E27FC236}">
                <a16:creationId xmlns:a16="http://schemas.microsoft.com/office/drawing/2014/main" id="{BC7EC1FA-30AC-4BD5-A3DC-C03E317B14D4}"/>
              </a:ext>
            </a:extLst>
          </p:cNvPr>
          <p:cNvSpPr>
            <a:spLocks xmlns:a="http://schemas.openxmlformats.org/drawingml/2006/main" noGrp="1"/>
          </p:cNvSpPr>
          <p:nvPr/>
        </p:nvSpPr>
        <p:spPr>
          <a:xfrm xmlns:a="http://schemas.openxmlformats.org/drawingml/2006/main">
            <a:off x="714375" y="2771775"/>
            <a:ext cx="3495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Lin permits a brief</a:t>
            </a:r>
          </a:p>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visit summary.</a:t>
            </a:r>
          </a:p>
        </p:txBody>
      </p:sp>
      <p:sp>
        <p:nvSpPr>
          <p:cNvPr id="4" name="text-58">
            <a:extLst xmlns:a="http://schemas.openxmlformats.org/drawingml/2006/main">
              <a:ext uri="{FF2B5EF4-FFF2-40B4-BE49-F238E27FC236}">
                <a16:creationId xmlns:a16="http://schemas.microsoft.com/office/drawing/2014/main" id="{2522140C-99EA-4AF9-BCAA-52940FCAAF3D}"/>
              </a:ext>
            </a:extLst>
          </p:cNvPr>
          <p:cNvSpPr>
            <a:spLocks xmlns:a="http://schemas.openxmlformats.org/drawingml/2006/main" noGrp="1"/>
          </p:cNvSpPr>
          <p:nvPr/>
        </p:nvSpPr>
        <p:spPr>
          <a:xfrm xmlns:a="http://schemas.openxmlformats.org/drawingml/2006/main">
            <a:off x="714375" y="3752850"/>
            <a:ext cx="3495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9C8"/>
                </a:solidFill>
                <a:latin typeface="Arial"/>
                <a:ea typeface="Arial"/>
                <a:cs typeface="Arial"/>
              </a:defRPr>
            </a:pPr>
            <a:r>
              <a:rPr sz="2100" b="1">
                <a:solidFill>
                  <a:srgbClr val="0079C8"/>
                </a:solidFill>
                <a:latin typeface="Arial"/>
                <a:ea typeface="Arial"/>
                <a:cs typeface="Arial"/>
              </a:rPr>
              <a:t>Today</a:t>
            </a:r>
          </a:p>
        </p:txBody>
      </p:sp>
      <p:sp>
        <p:nvSpPr>
          <p:cNvPr id="5" name="text-59">
            <a:extLst xmlns:a="http://schemas.openxmlformats.org/drawingml/2006/main">
              <a:ext uri="{FF2B5EF4-FFF2-40B4-BE49-F238E27FC236}">
                <a16:creationId xmlns:a16="http://schemas.microsoft.com/office/drawing/2014/main" id="{BCD4AEBA-D847-45E9-9791-406255D8A897}"/>
              </a:ext>
            </a:extLst>
          </p:cNvPr>
          <p:cNvSpPr>
            <a:spLocks xmlns:a="http://schemas.openxmlformats.org/drawingml/2006/main" noGrp="1"/>
          </p:cNvSpPr>
          <p:nvPr/>
        </p:nvSpPr>
        <p:spPr>
          <a:xfrm xmlns:a="http://schemas.openxmlformats.org/drawingml/2006/main">
            <a:off x="714375" y="4171950"/>
            <a:ext cx="34956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A suggestion explains</a:t>
            </a:r>
          </a:p>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which information it uses.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dd8cc5fdc84a36"/>
          <a:stretch xmlns:a="http://schemas.openxmlformats.org/drawingml/2006/main"/>
        </p:blipFill>
        <p:spPr>
          <a:xfrm xmlns:a="http://schemas.openxmlformats.org/drawingml/2006/main">
            <a:off x="4652995" y="2314575"/>
            <a:ext cx="6495984" cy="3305175"/>
          </a:xfrm>
          <a:prstGeom xmlns:a="http://schemas.openxmlformats.org/drawingml/2006/main" prst="rect">
            <a:avLst/>
          </a:prstGeom>
        </p:spPr>
      </p:pic>
      <p:sp>
        <p:nvSpPr>
          <p:cNvPr id="7" name="text-60">
            <a:extLst xmlns:a="http://schemas.openxmlformats.org/drawingml/2006/main">
              <a:ext uri="{FF2B5EF4-FFF2-40B4-BE49-F238E27FC236}">
                <a16:creationId xmlns:a16="http://schemas.microsoft.com/office/drawing/2014/main" id="{C0F3E072-081F-4215-8ED4-759350ED8553}"/>
              </a:ext>
            </a:extLst>
          </p:cNvPr>
          <p:cNvSpPr>
            <a:spLocks xmlns:a="http://schemas.openxmlformats.org/drawingml/2006/main" noGrp="1"/>
          </p:cNvSpPr>
          <p:nvPr/>
        </p:nvSpPr>
        <p:spPr>
          <a:xfrm xmlns:a="http://schemas.openxmlformats.org/drawingml/2006/main">
            <a:off x="714375" y="563880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9C8"/>
                </a:solidFill>
                <a:latin typeface="Arial"/>
                <a:ea typeface="Arial"/>
                <a:cs typeface="Arial"/>
              </a:defRPr>
            </a:pPr>
            <a:r>
              <a:rPr sz="1875" b="1">
                <a:solidFill>
                  <a:srgbClr val="0079C8"/>
                </a:solidFill>
                <a:latin typeface="Arial"/>
                <a:ea typeface="Arial"/>
                <a:cs typeface="Arial"/>
              </a:rPr>
              <a:t>Follow-up booking, if her doctor recommended it.</a:t>
            </a:r>
          </a:p>
        </p:txBody>
      </p:sp>
      <p:sp>
        <p:nvSpPr>
          <p:cNvPr id="8" name="text-61">
            <a:extLst xmlns:a="http://schemas.openxmlformats.org/drawingml/2006/main">
              <a:ext uri="{FF2B5EF4-FFF2-40B4-BE49-F238E27FC236}">
                <a16:creationId xmlns:a16="http://schemas.microsoft.com/office/drawing/2014/main" id="{6A680667-1CC5-4B17-B1FE-3CD55E5F1A83}"/>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Concept walkthrough using the local prototype. Sharing remains optional.</a:t>
            </a:r>
          </a:p>
        </p:txBody>
      </p:sp>
      <p:sp>
        <p:nvSpPr>
          <p:cNvPr id="9" name="text-62">
            <a:extLst xmlns:a="http://schemas.openxmlformats.org/drawingml/2006/main">
              <a:ext uri="{FF2B5EF4-FFF2-40B4-BE49-F238E27FC236}">
                <a16:creationId xmlns:a16="http://schemas.microsoft.com/office/drawing/2014/main" id="{675BA6BA-751C-4799-A6DB-DD3665361C92}"/>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07 / 09</a:t>
            </a:r>
          </a:p>
        </p:txBody>
      </p:sp>
    </p:spTree>
    <p:extLst>
      <p:ext uri="{BB962C8B-B14F-4D97-AF65-F5344CB8AC3E}">
        <p14:creationId xmlns:p14="http://schemas.microsoft.com/office/powerpoint/2010/main" val="4325840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63">
            <a:extLst xmlns:a="http://schemas.openxmlformats.org/drawingml/2006/main">
              <a:ext uri="{FF2B5EF4-FFF2-40B4-BE49-F238E27FC236}">
                <a16:creationId xmlns:a16="http://schemas.microsoft.com/office/drawing/2014/main" id="{F360069B-A8BB-4EA7-9E27-A5083B49D172}"/>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The next validation step</a:t>
            </a:r>
          </a:p>
        </p:txBody>
      </p:sp>
      <p:sp>
        <p:nvSpPr>
          <p:cNvPr id="2" name="text-64">
            <a:extLst xmlns:a="http://schemas.openxmlformats.org/drawingml/2006/main">
              <a:ext uri="{FF2B5EF4-FFF2-40B4-BE49-F238E27FC236}">
                <a16:creationId xmlns:a16="http://schemas.microsoft.com/office/drawing/2014/main" id="{947B7042-4899-4073-9B27-5B1E4C95CDC0}"/>
              </a:ext>
            </a:extLst>
          </p:cNvPr>
          <p:cNvSpPr>
            <a:spLocks xmlns:a="http://schemas.openxmlformats.org/drawingml/2006/main" noGrp="1"/>
          </p:cNvSpPr>
          <p:nvPr/>
        </p:nvSpPr>
        <p:spPr>
          <a:xfrm xmlns:a="http://schemas.openxmlformats.org/drawingml/2006/main">
            <a:off x="704850" y="2286000"/>
            <a:ext cx="49244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079C8"/>
                </a:solidFill>
                <a:latin typeface="Arial"/>
                <a:ea typeface="Arial"/>
                <a:cs typeface="Arial"/>
              </a:defRPr>
            </a:pPr>
            <a:r>
              <a:rPr sz="2775" b="1">
                <a:solidFill>
                  <a:srgbClr val="0079C8"/>
                </a:solidFill>
                <a:latin typeface="Arial"/>
                <a:ea typeface="Arial"/>
                <a:cs typeface="Arial"/>
              </a:rPr>
              <a:t>Built for demonstration</a:t>
            </a:r>
          </a:p>
        </p:txBody>
      </p:sp>
      <p:sp>
        <p:nvSpPr>
          <p:cNvPr id="3" name="text-65">
            <a:extLst xmlns:a="http://schemas.openxmlformats.org/drawingml/2006/main">
              <a:ext uri="{FF2B5EF4-FFF2-40B4-BE49-F238E27FC236}">
                <a16:creationId xmlns:a16="http://schemas.microsoft.com/office/drawing/2014/main" id="{C1F7E614-FCB3-4640-9A8E-73CEC3B0127C}"/>
              </a:ext>
            </a:extLst>
          </p:cNvPr>
          <p:cNvSpPr>
            <a:spLocks xmlns:a="http://schemas.openxmlformats.org/drawingml/2006/main" noGrp="1"/>
          </p:cNvSpPr>
          <p:nvPr/>
        </p:nvSpPr>
        <p:spPr>
          <a:xfrm xmlns:a="http://schemas.openxmlformats.org/drawingml/2006/main">
            <a:off x="704850" y="3324225"/>
            <a:ext cx="47815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Permissions</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Booking preparation</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Receipts</a:t>
            </a:r>
          </a:p>
        </p:txBody>
      </p:sp>
      <p:sp>
        <p:nvSpPr>
          <p:cNvPr id="4" name="text-66">
            <a:extLst xmlns:a="http://schemas.openxmlformats.org/drawingml/2006/main">
              <a:ext uri="{FF2B5EF4-FFF2-40B4-BE49-F238E27FC236}">
                <a16:creationId xmlns:a16="http://schemas.microsoft.com/office/drawing/2014/main" id="{E40D6543-BDA9-4F2D-8954-97AB04BE0D51}"/>
              </a:ext>
            </a:extLst>
          </p:cNvPr>
          <p:cNvSpPr>
            <a:spLocks xmlns:a="http://schemas.openxmlformats.org/drawingml/2006/main" noGrp="1"/>
          </p:cNvSpPr>
          <p:nvPr/>
        </p:nvSpPr>
        <p:spPr>
          <a:xfrm xmlns:a="http://schemas.openxmlformats.org/drawingml/2006/main">
            <a:off x="6353175" y="2286000"/>
            <a:ext cx="5143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73B60"/>
                </a:solidFill>
                <a:latin typeface="Arial"/>
                <a:ea typeface="Arial"/>
                <a:cs typeface="Arial"/>
              </a:defRPr>
            </a:pPr>
            <a:r>
              <a:rPr sz="2775" b="1">
                <a:solidFill>
                  <a:srgbClr val="073B60"/>
                </a:solidFill>
                <a:latin typeface="Arial"/>
                <a:ea typeface="Arial"/>
                <a:cs typeface="Arial"/>
              </a:rPr>
              <a:t>A 90-day university pilot</a:t>
            </a:r>
          </a:p>
        </p:txBody>
      </p:sp>
      <p:sp>
        <p:nvSpPr>
          <p:cNvPr id="5" name="text-67">
            <a:extLst xmlns:a="http://schemas.openxmlformats.org/drawingml/2006/main">
              <a:ext uri="{FF2B5EF4-FFF2-40B4-BE49-F238E27FC236}">
                <a16:creationId xmlns:a16="http://schemas.microsoft.com/office/drawing/2014/main" id="{1D2AA268-06C8-4636-ABE7-01608F5426B8}"/>
              </a:ext>
            </a:extLst>
          </p:cNvPr>
          <p:cNvSpPr>
            <a:spLocks xmlns:a="http://schemas.openxmlformats.org/drawingml/2006/main" noGrp="1"/>
          </p:cNvSpPr>
          <p:nvPr/>
        </p:nvSpPr>
        <p:spPr>
          <a:xfrm xmlns:a="http://schemas.openxmlformats.org/drawingml/2006/main">
            <a:off x="6353175" y="3533775"/>
            <a:ext cx="5143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Test booking completion</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and avoidable support calls.</a:t>
            </a:r>
          </a:p>
        </p:txBody>
      </p:sp>
      <p:sp>
        <p:nvSpPr>
          <p:cNvPr id="6" name="text-68">
            <a:extLst xmlns:a="http://schemas.openxmlformats.org/drawingml/2006/main">
              <a:ext uri="{FF2B5EF4-FFF2-40B4-BE49-F238E27FC236}">
                <a16:creationId xmlns:a16="http://schemas.microsoft.com/office/drawing/2014/main" id="{497DF6F4-BFDB-4B87-9AF7-0E7E71C68458}"/>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Scripted prototype. Production integration still required.</a:t>
            </a:r>
          </a:p>
        </p:txBody>
      </p:sp>
      <p:sp>
        <p:nvSpPr>
          <p:cNvPr id="7" name="text-69">
            <a:extLst xmlns:a="http://schemas.openxmlformats.org/drawingml/2006/main">
              <a:ext uri="{FF2B5EF4-FFF2-40B4-BE49-F238E27FC236}">
                <a16:creationId xmlns:a16="http://schemas.microsoft.com/office/drawing/2014/main" id="{8C568ED9-6B99-4139-8246-12E952AB98B4}"/>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08 / 09</a:t>
            </a:r>
          </a:p>
        </p:txBody>
      </p:sp>
    </p:spTree>
    <p:extLst>
      <p:ext uri="{BB962C8B-B14F-4D97-AF65-F5344CB8AC3E}">
        <p14:creationId xmlns:p14="http://schemas.microsoft.com/office/powerpoint/2010/main" val="200563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29757adc1b440c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70">
            <a:extLst xmlns:a="http://schemas.openxmlformats.org/drawingml/2006/main">
              <a:ext uri="{FF2B5EF4-FFF2-40B4-BE49-F238E27FC236}">
                <a16:creationId xmlns:a16="http://schemas.microsoft.com/office/drawing/2014/main" id="{2C2DF63B-6987-4CA5-954C-3F088207F281}"/>
              </a:ext>
            </a:extLst>
          </p:cNvPr>
          <p:cNvSpPr>
            <a:spLocks xmlns:a="http://schemas.openxmlformats.org/drawingml/2006/main" noGrp="1"/>
          </p:cNvSpPr>
          <p:nvPr/>
        </p:nvSpPr>
        <p:spPr>
          <a:xfrm xmlns:a="http://schemas.openxmlformats.org/drawingml/2006/main">
            <a:off x="695325" y="1647825"/>
            <a:ext cx="933450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9C8"/>
                </a:solidFill>
                <a:latin typeface="Arial"/>
                <a:ea typeface="Arial"/>
                <a:cs typeface="Arial"/>
              </a:defRPr>
            </a:pPr>
            <a:r>
              <a:rPr sz="5400" b="1">
                <a:solidFill>
                  <a:srgbClr val="0079C8"/>
                </a:solidFill>
                <a:latin typeface="Arial"/>
                <a:ea typeface="Arial"/>
                <a:cs typeface="Arial"/>
              </a:rPr>
              <a:t>Helping Lin take</a:t>
            </a:r>
          </a:p>
          <a:p xmlns:a="http://schemas.openxmlformats.org/drawingml/2006/main">
            <a:pPr algn="l">
              <a:defRPr sz="5400" b="1">
                <a:solidFill>
                  <a:srgbClr val="0079C8"/>
                </a:solidFill>
                <a:latin typeface="Arial"/>
                <a:ea typeface="Arial"/>
                <a:cs typeface="Arial"/>
              </a:defRPr>
            </a:pPr>
            <a:r>
              <a:rPr sz="5400" b="1">
                <a:solidFill>
                  <a:srgbClr val="0079C8"/>
                </a:solidFill>
                <a:latin typeface="Arial"/>
                <a:ea typeface="Arial"/>
                <a:cs typeface="Arial"/>
              </a:rPr>
              <a:t>the next step</a:t>
            </a:r>
          </a:p>
        </p:txBody>
      </p:sp>
      <p:sp>
        <p:nvSpPr>
          <p:cNvPr id="3" name="text-71">
            <a:extLst xmlns:a="http://schemas.openxmlformats.org/drawingml/2006/main">
              <a:ext uri="{FF2B5EF4-FFF2-40B4-BE49-F238E27FC236}">
                <a16:creationId xmlns:a16="http://schemas.microsoft.com/office/drawing/2014/main" id="{9CC22F78-563F-432B-B6B5-5D0BEBEC0C5D}"/>
              </a:ext>
            </a:extLst>
          </p:cNvPr>
          <p:cNvSpPr>
            <a:spLocks xmlns:a="http://schemas.openxmlformats.org/drawingml/2006/main" noGrp="1"/>
          </p:cNvSpPr>
          <p:nvPr/>
        </p:nvSpPr>
        <p:spPr>
          <a:xfrm xmlns:a="http://schemas.openxmlformats.org/drawingml/2006/main">
            <a:off x="742950" y="4133850"/>
            <a:ext cx="7334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073B60"/>
                </a:solidFill>
                <a:latin typeface="Arial"/>
                <a:ea typeface="Arial"/>
                <a:cs typeface="Arial"/>
              </a:defRPr>
            </a:pPr>
            <a:r>
              <a:rPr sz="2850" b="0">
                <a:solidFill>
                  <a:srgbClr val="073B60"/>
                </a:solidFill>
                <a:latin typeface="Arial"/>
                <a:ea typeface="Arial"/>
                <a:cs typeface="Arial"/>
              </a:rPr>
              <a:t>With her permission.</a:t>
            </a:r>
          </a:p>
          <a:p xmlns:a="http://schemas.openxmlformats.org/drawingml/2006/main">
            <a:pPr algn="l">
              <a:defRPr sz="2850" b="0">
                <a:solidFill>
                  <a:srgbClr val="073B60"/>
                </a:solidFill>
                <a:latin typeface="Arial"/>
                <a:ea typeface="Arial"/>
                <a:cs typeface="Arial"/>
              </a:defRPr>
            </a:pPr>
            <a:r>
              <a:rPr sz="2850" b="0">
                <a:solidFill>
                  <a:srgbClr val="073B60"/>
                </a:solidFill>
                <a:latin typeface="Arial"/>
                <a:ea typeface="Arial"/>
                <a:cs typeface="Arial"/>
              </a:rPr>
              <a:t>In her language.</a:t>
            </a:r>
          </a:p>
        </p:txBody>
      </p:sp>
      <p:sp>
        <p:nvSpPr>
          <p:cNvPr id="4" name="text-72">
            <a:extLst xmlns:a="http://schemas.openxmlformats.org/drawingml/2006/main">
              <a:ext uri="{FF2B5EF4-FFF2-40B4-BE49-F238E27FC236}">
                <a16:creationId xmlns:a16="http://schemas.microsoft.com/office/drawing/2014/main" id="{CAB89B10-6A5D-4F00-A970-4361D3078BF8}"/>
              </a:ext>
            </a:extLst>
          </p:cNvPr>
          <p:cNvSpPr>
            <a:spLocks xmlns:a="http://schemas.openxmlformats.org/drawingml/2006/main" noGrp="1"/>
          </p:cNvSpPr>
          <p:nvPr/>
        </p:nvSpPr>
        <p:spPr>
          <a:xfrm xmlns:a="http://schemas.openxmlformats.org/drawingml/2006/main">
            <a:off x="742950" y="5781675"/>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D82"/>
                </a:solidFill>
                <a:latin typeface="Arial"/>
                <a:ea typeface="Arial"/>
                <a:cs typeface="Arial"/>
              </a:defRPr>
            </a:pPr>
            <a:r>
              <a:rPr sz="1725" b="0">
                <a:solidFill>
                  <a:srgbClr val="526D82"/>
                </a:solidFill>
                <a:latin typeface="Arial"/>
                <a:ea typeface="Arial"/>
                <a:cs typeface="Arial"/>
              </a:rPr>
              <a:t>My Bupa Agent</a:t>
            </a:r>
          </a:p>
        </p:txBody>
      </p:sp>
      <p:sp>
        <p:nvSpPr>
          <p:cNvPr id="5" name="text-73">
            <a:extLst xmlns:a="http://schemas.openxmlformats.org/drawingml/2006/main">
              <a:ext uri="{FF2B5EF4-FFF2-40B4-BE49-F238E27FC236}">
                <a16:creationId xmlns:a16="http://schemas.microsoft.com/office/drawing/2014/main" id="{99E06E20-330D-48EB-895B-620AD86263AC}"/>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09 / 09</a:t>
            </a:r>
          </a:p>
        </p:txBody>
      </p:sp>
    </p:spTree>
    <p:extLst>
      <p:ext uri="{BB962C8B-B14F-4D97-AF65-F5344CB8AC3E}">
        <p14:creationId xmlns:p14="http://schemas.microsoft.com/office/powerpoint/2010/main" val="8661860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2026-09-28T03:55:08.0680000Z</dcterms:created>
  <dcterms:modified xsi:type="dcterms:W3CDTF">2026-09-28T03:55:08.0690000Z</dcterms:modified>
</coreProperties>
</file>