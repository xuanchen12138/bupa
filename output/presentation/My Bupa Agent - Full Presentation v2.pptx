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2a7ea1a5734ee7" /><Relationship Type="http://schemas.openxmlformats.org/officeDocument/2006/relationships/extended-properties" Target="/docProps/app.xml" Id="R788585954b194a49" /><Relationship Type="http://schemas.openxmlformats.org/officeDocument/2006/relationships/officeDocument" Target="/ppt/presentation.xml" Id="Rc49d6f8ecc1947e3" /></Relationships>
</file>

<file path=ppt/presentation.xml><?xml version="1.0" encoding="utf-8"?>
<p:presentation xmlns:p="http://schemas.openxmlformats.org/presentationml/2006/main">
  <p:sldMasterIdLst>
    <p:sldMasterId xmlns:r="http://schemas.openxmlformats.org/officeDocument/2006/relationships" id="2147483648" r:id="R28408b2b74e1450f"/>
  </p:sldMasterIdLst>
  <p:notesMasterIdLst>
    <p:notesMasterId xmlns:r="http://schemas.openxmlformats.org/officeDocument/2006/relationships" r:id="R213145f0455a4524"/>
  </p:notesMasterIdLst>
  <p:sldIdLst>
    <p:sldId xmlns:r="http://schemas.openxmlformats.org/officeDocument/2006/relationships" id="256" r:id="R9f3b406ab2304b32"/>
    <p:sldId xmlns:r="http://schemas.openxmlformats.org/officeDocument/2006/relationships" id="257" r:id="Rfd44bb3b9e9343fe"/>
    <p:sldId xmlns:r="http://schemas.openxmlformats.org/officeDocument/2006/relationships" id="258" r:id="Rae3fe5bfd6444b19"/>
    <p:sldId xmlns:r="http://schemas.openxmlformats.org/officeDocument/2006/relationships" id="259" r:id="Rbb7cf33504a64ec8"/>
    <p:sldId xmlns:r="http://schemas.openxmlformats.org/officeDocument/2006/relationships" id="260" r:id="Ra16ed582cfdf41e4"/>
    <p:sldId xmlns:r="http://schemas.openxmlformats.org/officeDocument/2006/relationships" id="261" r:id="R8d8d3dffc111436a"/>
    <p:sldId xmlns:r="http://schemas.openxmlformats.org/officeDocument/2006/relationships" id="262" r:id="Rf360833839b94d11"/>
    <p:sldId xmlns:r="http://schemas.openxmlformats.org/officeDocument/2006/relationships" id="263" r:id="R7de020e39610404b"/>
    <p:sldId xmlns:r="http://schemas.openxmlformats.org/officeDocument/2006/relationships" id="264" r:id="R9ad7fcf0fbd24686"/>
    <p:sldId xmlns:r="http://schemas.openxmlformats.org/officeDocument/2006/relationships" id="265" r:id="R44a38dfbf033489d"/>
    <p:sldId xmlns:r="http://schemas.openxmlformats.org/officeDocument/2006/relationships" id="266" r:id="R2fcf745b46724a6d"/>
    <p:sldId xmlns:r="http://schemas.openxmlformats.org/officeDocument/2006/relationships" id="267" r:id="Ra69775f0870f41a2"/>
    <p:sldId xmlns:r="http://schemas.openxmlformats.org/officeDocument/2006/relationships" id="268" r:id="R4b19b32797214c57"/>
    <p:sldId xmlns:r="http://schemas.openxmlformats.org/officeDocument/2006/relationships" id="269" r:id="R874f97bf0f524c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a1b6cc2d1a4b7c" /><Relationship Type="http://schemas.openxmlformats.org/officeDocument/2006/relationships/slideMaster" Target="/ppt/slideMasters/slideMaster1.xml" Id="R28408b2b74e1450f" /><Relationship Type="http://schemas.openxmlformats.org/officeDocument/2006/relationships/notesMaster" Target="/ppt/notesMasters/notesMaster1.xml" Id="R213145f0455a4524" /><Relationship Type="http://schemas.openxmlformats.org/officeDocument/2006/relationships/presProps" Target="/ppt/presProps.xml" Id="Raf72423aa99c4116" /><Relationship Type="http://schemas.openxmlformats.org/officeDocument/2006/relationships/tableStyles" Target="/ppt/tableStyles.xml" Id="R74f54dc5bc52426e" /><Relationship Type="http://schemas.openxmlformats.org/officeDocument/2006/relationships/slide" Target="/ppt/slides/slide1.xml" Id="R9f3b406ab2304b32" /><Relationship Type="http://schemas.openxmlformats.org/officeDocument/2006/relationships/slide" Target="/ppt/slides/slide2.xml" Id="Rfd44bb3b9e9343fe" /><Relationship Type="http://schemas.openxmlformats.org/officeDocument/2006/relationships/slide" Target="/ppt/slides/slide3.xml" Id="Rae3fe5bfd6444b19" /><Relationship Type="http://schemas.openxmlformats.org/officeDocument/2006/relationships/slide" Target="/ppt/slides/slide4.xml" Id="Rbb7cf33504a64ec8" /><Relationship Type="http://schemas.openxmlformats.org/officeDocument/2006/relationships/slide" Target="/ppt/slides/slide5.xml" Id="Ra16ed582cfdf41e4" /><Relationship Type="http://schemas.openxmlformats.org/officeDocument/2006/relationships/slide" Target="/ppt/slides/slide6.xml" Id="R8d8d3dffc111436a" /><Relationship Type="http://schemas.openxmlformats.org/officeDocument/2006/relationships/slide" Target="/ppt/slides/slide7.xml" Id="Rf360833839b94d11" /><Relationship Type="http://schemas.openxmlformats.org/officeDocument/2006/relationships/slide" Target="/ppt/slides/slide8.xml" Id="R7de020e39610404b" /><Relationship Type="http://schemas.openxmlformats.org/officeDocument/2006/relationships/slide" Target="/ppt/slides/slide9.xml" Id="R9ad7fcf0fbd24686" /><Relationship Type="http://schemas.openxmlformats.org/officeDocument/2006/relationships/slide" Target="/ppt/slides/slide10.xml" Id="R44a38dfbf033489d" /><Relationship Type="http://schemas.openxmlformats.org/officeDocument/2006/relationships/slide" Target="/ppt/slides/slide11.xml" Id="R2fcf745b46724a6d" /><Relationship Type="http://schemas.openxmlformats.org/officeDocument/2006/relationships/slide" Target="/ppt/slides/slide12.xml" Id="Ra69775f0870f41a2" /><Relationship Type="http://schemas.openxmlformats.org/officeDocument/2006/relationships/slide" Target="/ppt/slides/slide13.xml" Id="R4b19b32797214c57" /><Relationship Type="http://schemas.openxmlformats.org/officeDocument/2006/relationships/slide" Target="/ppt/slides/slide14.xml" Id="R874f97bf0f524c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0c9319584c4d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f58e00cb9640e8" /><Relationship Type="http://schemas.openxmlformats.org/officeDocument/2006/relationships/notesMaster" Target="/ppt/notesMasters/notesMaster1.xml" Id="R31d5ce91deac48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f52f6ac3994877" /><Relationship Type="http://schemas.openxmlformats.org/officeDocument/2006/relationships/notesMaster" Target="/ppt/notesMasters/notesMaster1.xml" Id="R6f5b7c7e762e4e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f705702c2846c2" /><Relationship Type="http://schemas.openxmlformats.org/officeDocument/2006/relationships/notesMaster" Target="/ppt/notesMasters/notesMaster1.xml" Id="R3904d88e20f040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c42243a97949e5" /><Relationship Type="http://schemas.openxmlformats.org/officeDocument/2006/relationships/notesMaster" Target="/ppt/notesMasters/notesMaster1.xml" Id="R12b44a0ecbf44f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db1ec7972a43ab" /><Relationship Type="http://schemas.openxmlformats.org/officeDocument/2006/relationships/notesMaster" Target="/ppt/notesMasters/notesMaster1.xml" Id="Re0c82101f5b74c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b953f818be4b88" /><Relationship Type="http://schemas.openxmlformats.org/officeDocument/2006/relationships/notesMaster" Target="/ppt/notesMasters/notesMaster1.xml" Id="Rcc4caee72ba14c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ea6cc6b55946e8" /><Relationship Type="http://schemas.openxmlformats.org/officeDocument/2006/relationships/notesMaster" Target="/ppt/notesMasters/notesMaster1.xml" Id="R273c6fa4220345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d45a6c243d4534" /><Relationship Type="http://schemas.openxmlformats.org/officeDocument/2006/relationships/notesMaster" Target="/ppt/notesMasters/notesMaster1.xml" Id="R441b686d4dfa423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16347ed4174a40" /><Relationship Type="http://schemas.openxmlformats.org/officeDocument/2006/relationships/notesMaster" Target="/ppt/notesMasters/notesMaster1.xml" Id="Red303417adeb4f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ba41443cdee4bc5" /><Relationship Type="http://schemas.openxmlformats.org/officeDocument/2006/relationships/notesMaster" Target="/ppt/notesMasters/notesMaster1.xml" Id="R2d41ebefb2674b9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b2c4e55eee41e1" /><Relationship Type="http://schemas.openxmlformats.org/officeDocument/2006/relationships/notesMaster" Target="/ppt/notesMasters/notesMaster1.xml" Id="Rcfe2c241ad2a4c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40e3ecb4154a9d" /><Relationship Type="http://schemas.openxmlformats.org/officeDocument/2006/relationships/notesMaster" Target="/ppt/notesMasters/notesMaster1.xml" Id="Re5fb03e91a7d4f1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2ff61107d44119" /><Relationship Type="http://schemas.openxmlformats.org/officeDocument/2006/relationships/notesMaster" Target="/ppt/notesMasters/notesMaster1.xml" Id="Rc75877d2cb91471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732218c777479d" /><Relationship Type="http://schemas.openxmlformats.org/officeDocument/2006/relationships/notesMaster" Target="/ppt/notesMasters/notesMaster1.xml" Id="Rea36c9694c9a4e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Bupa Agent helps members understand their cover and take the next step.</a:t>
            </a:r>
          </a:p>
          <a:p xmlns:a="http://schemas.openxmlformats.org/drawingml/2006/main">
            <a:r>
              <a:t/>
            </a:r>
          </a:p>
          <a:p xmlns:a="http://schemas.openxmlformats.org/drawingml/2006/main">
            <a:r>
              <a:t>Pitch timing: 5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Abstract background generated with the built-in imagegen tool. Prompt retained in .ppt-build/assets/blue-flow-prompt.txt.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started with a question from our own experience: why can someone have health insurance and still feel unsure about getting care? We were learning a new healthcare system, trying to understand our cover, and dealing with medical language in English. We wanted to make that first step easier for someone like us.</a:t>
            </a:r>
          </a:p>
          <a:p xmlns:a="http://schemas.openxmlformats.org/drawingml/2006/main">
            <a:r>
              <a:t/>
            </a:r>
          </a:p>
          <a:p xmlns:a="http://schemas.openxmlformats.org/drawingml/2006/main">
            <a:r>
              <a:t>Pitch timing: 30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National data shows that cost can keep young adults from seeing a GP. In 2024–25, 13 percent of people aged 25 to 34 who needed a GP delayed or went without a visit because of cost. This gives us context. Our student research needs to establish which barriers matter most for our users.</a:t>
            </a:r>
          </a:p>
          <a:p xmlns:a="http://schemas.openxmlformats.org/drawingml/2006/main">
            <a:r>
              <a:t/>
            </a:r>
          </a:p>
          <a:p xmlns:a="http://schemas.openxmlformats.org/drawingml/2006/main">
            <a:r>
              <a:t>Full-deck / Q&amp;A detail.</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ABS Patient Experiences 2024–25, age 25–34, GP care delayed or not used due to cost: 13.0%. https://www.abs.gov.au/statistics/health/health-services/patient-experiences/2024-25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Meet Lin, a new international student in Melbourne. She needs to understand her cover, choose where to go, and communicate in her language. Then she still has to complete the booking. Our product follows her through that final step.</a:t>
            </a:r>
          </a:p>
          <a:p xmlns:a="http://schemas.openxmlformats.org/drawingml/2006/main">
            <a:r>
              <a:t/>
            </a:r>
          </a:p>
          <a:p xmlns:a="http://schemas.openxmlformats.org/drawingml/2006/main">
            <a:r>
              <a:t>Pitch timing: 20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asks us to create more value from existing data and make new sharing worthwhile. We start with information Bupa already holds, subject to permission. If something else is needed, the request explains what it will help Lin do. She can see her choices and change them later.</a:t>
            </a:r>
          </a:p>
          <a:p xmlns:a="http://schemas.openxmlformats.org/drawingml/2006/main">
            <a:r>
              <a:t/>
            </a:r>
          </a:p>
          <a:p xmlns:a="http://schemas.openxmlformats.org/drawingml/2006/main">
            <a:r>
              <a:t>Full-deck / Q&amp;A detail.</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Screenshots captured from the local project prototype on 28 September 2026. Fictional member data and scripted behaviour.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looked at the services members can already access, including cover information and ways to find care. Our opportunity is to help Lin carry her request into the next step, using the information she has already provided with permission.</a:t>
            </a:r>
          </a:p>
          <a:p xmlns:a="http://schemas.openxmlformats.org/drawingml/2006/main">
            <a:r>
              <a:t/>
            </a:r>
          </a:p>
          <a:p xmlns:a="http://schemas.openxmlformats.org/drawingml/2006/main">
            <a:r>
              <a:t>Full-deck / Q&amp;A detail.</a:t>
            </a:r>
          </a:p>
          <a:p xmlns:a="http://schemas.openxmlformats.org/drawingml/2006/main">
            <a:r>
              <a:t>This slide is an illustrative service map. It does not claim verified limits of the current Bupa chat or booking systems.</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journey map highlights the handoff between an answer and an appointment. Lin may still have to find another screen and enter the same details again. We want to carry the context she has authorised into that next step, while keeping her in control.</a:t>
            </a:r>
          </a:p>
          <a:p xmlns:a="http://schemas.openxmlformats.org/drawingml/2006/main">
            <a:r>
              <a:t/>
            </a:r>
          </a:p>
          <a:p xmlns:a="http://schemas.openxmlformats.org/drawingml/2006/main">
            <a:r>
              <a:t>Pitch timing: 20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Bupa Agent connects three places. The chat explains and prepares. Profile lets Lin control which information it can use. Dashboard holds her appointments and any health summary she allows. The Agent fills the form, and Lin reviews the details and submits it herself.</a:t>
            </a:r>
          </a:p>
          <a:p xmlns:a="http://schemas.openxmlformats.org/drawingml/2006/main">
            <a:r>
              <a:t/>
            </a:r>
          </a:p>
          <a:p xmlns:a="http://schemas.openxmlformats.org/drawingml/2006/main">
            <a:r>
              <a:t>Pitch timing: 20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Screenshots captured from the local project prototype on 28 September 2026. Fictional member data and scripted behaviour.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 can begin with an explanation that saves no conversation history. When a useful task needs more information, she can choose to allow it. The proposed levels make those choices easier to understand. Moving up should follow a visible benefit, and moving down should stop the uses she no longer wants.</a:t>
            </a:r>
          </a:p>
          <a:p xmlns:a="http://schemas.openxmlformats.org/drawingml/2006/main">
            <a:r>
              <a:t/>
            </a:r>
          </a:p>
          <a:p xmlns:a="http://schemas.openxmlformats.org/drawingml/2006/main">
            <a:r>
              <a:t>Full-deck / Q&amp;A detail.</a:t>
            </a:r>
          </a:p>
          <a:p xmlns:a="http://schemas.openxmlformats.org/drawingml/2006/main">
            <a:r>
              <a:t>The four-level system is proposed. Revoking permission and deleting existing records are separate operations.</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 asks in Chinese for help arranging a health check. The Agent explains the relevant cover and what still needs confirmation, then prepares the booking form. Here is the key moment: it asks for her postcode to find nearby clinics. She sees the purpose, chooses this time only, and gets relevant options. Each prefilled field shows its source. Lin checks the details and presses Submit herself. The appointment appears on Dashboard, and the permission receipt stays visible in Profile. All member and clinic information here is demo data.</a:t>
            </a:r>
          </a:p>
          <a:p xmlns:a="http://schemas.openxmlformats.org/drawingml/2006/main">
            <a:r>
              <a:t/>
            </a:r>
          </a:p>
          <a:p xmlns:a="http://schemas.openxmlformats.org/drawingml/2006/main">
            <a:r>
              <a:t>Pitch timing: 50 seconds.</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General product background: https://www.bupa.com.au/health-insurance/oshc/cover/standard-oshc</a:t>
            </a:r>
          </a:p>
          <a:p xmlns:a="http://schemas.openxmlformats.org/drawingml/2006/main">
            <a:r>
              <a:t>Screenshots: local fictional prototype. Cover and provider amounts are demonstration data.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separate permission, Lin can keep a brief record of her arm-injury visit. Later, a reminder explains why it appears and offers help if her doctor recommended follow-up. She can prepare another booking or dismiss it. She can also withdraw permission for future suggestions.</a:t>
            </a:r>
          </a:p>
          <a:p xmlns:a="http://schemas.openxmlformats.org/drawingml/2006/main">
            <a:r>
              <a:t/>
            </a:r>
          </a:p>
          <a:p xmlns:a="http://schemas.openxmlformats.org/drawingml/2006/main">
            <a:r>
              <a:t>Pitch timing: 20 seconds.</a:t>
            </a:r>
          </a:p>
          <a:p xmlns:a="http://schemas.openxmlformats.org/drawingml/2006/main">
            <a:r>
              <a:t>Concept walkthrough. The local demo uses simulated history; do not imply production cloud memory or medical diagnosis. Follow-up is conditional on the clinician’s advice.</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Screenshots captured from the local project prototype on 28 September 2026. Fictional member data and scripted behaviour.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demonstrates the booking journey, permission controls and receipts using scripted responses and fictional data. Production would require approved Bupa and provider integrations, verified cover rules, and security review. The model would help interpret requests, while application code controls permissions and final submission.</a:t>
            </a:r>
          </a:p>
          <a:p xmlns:a="http://schemas.openxmlformats.org/drawingml/2006/main">
            <a:r>
              <a:t/>
            </a:r>
          </a:p>
          <a:p xmlns:a="http://schemas.openxmlformats.org/drawingml/2006/main">
            <a:r>
              <a:t>Full-deck / Q&amp;A detail.</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Screenshots captured from the local project prototype on 28 September 2026. Fictional member data and scripted behaviour.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propose a 90-day pilot with one university intake. We would measure completed bookings, avoidable support contacts and members' understanding of costs. We would also check whether members understand their consent choices and can withdraw them easily. If the journey proves useful, Dashboard could support further services under the same permission model.</a:t>
            </a:r>
          </a:p>
          <a:p xmlns:a="http://schemas.openxmlformats.org/drawingml/2006/main">
            <a:r>
              <a:t/>
            </a:r>
          </a:p>
          <a:p xmlns:a="http://schemas.openxmlformats.org/drawingml/2006/main">
            <a:r>
              <a:t>Full-deck / Q&amp;A detail.</a:t>
            </a:r>
          </a:p>
          <a:p xmlns:a="http://schemas.openxmlformats.org/drawingml/2006/main">
            <a:r>
              <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Helping Lin take the next step. Thank you.</a:t>
            </a:r>
          </a:p>
          <a:p xmlns:a="http://schemas.openxmlformats.org/drawingml/2006/main">
            <a:r>
              <a:t/>
            </a:r>
          </a:p>
          <a:p xmlns:a="http://schemas.openxmlformats.org/drawingml/2006/main">
            <a:r>
              <a:t>Pitch timing: 3 seconds.</a:t>
            </a:r>
          </a:p>
          <a:p xmlns:a="http://schemas.openxmlformats.org/drawingml/2006/main">
            <a:r>
              <a:t>Q&amp;A: Distinguish scripted prototype from approved production integration. Consent withdrawal stops the relevant future use. Do not equate it with deleting all medical or transaction records. Measure task completion and informed consent as well as support contacts.</a:t>
            </a:r>
          </a:p>
          <a:p xmlns:a="http://schemas.openxmlformats.org/drawingml/2006/main">
            <a:r>
              <a:t/>
            </a:r>
          </a:p>
          <a:p xmlns:a="http://schemas.openxmlformats.org/drawingml/2006/main">
            <a:r>
              <a:t>[Sources]</a:t>
            </a:r>
          </a:p>
          <a:p xmlns:a="http://schemas.openxmlformats.org/drawingml/2006/main">
            <a:r>
              <a:t>Current project presentation plan and product definition, 28 September 2026. Prototype boundaries from README.md.</a:t>
            </a:r>
          </a:p>
          <a:p xmlns:a="http://schemas.openxmlformats.org/drawingml/2006/main">
            <a:r>
              <a:t>Abstract background generated with the built-in imagegen tool. Prompt retained in .ppt-build/assets/blue-flow-prompt.txt.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1395595b9246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58620c24e94ba8" /><Relationship Type="http://schemas.openxmlformats.org/officeDocument/2006/relationships/slideLayout" Target="/ppt/slideLayouts/slideLayout1.xml" Id="R865a52eb66934a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5a52eb66934a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691e34f9934af2" /><Relationship Type="http://schemas.openxmlformats.org/officeDocument/2006/relationships/image" Target="/ppt/media/image.png" Id="Rf89e56e2636c4ad5" /><Relationship Type="http://schemas.openxmlformats.org/officeDocument/2006/relationships/notesSlide" Target="/ppt/notesSlides/notesSlide1.xml" Id="Rbe3792d44fed45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99c7ad6e884c25" /><Relationship Type="http://schemas.openxmlformats.org/officeDocument/2006/relationships/notesSlide" Target="/ppt/notesSlides/notesSlide2.xml" Id="Rb208bf768bc94b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ea7a67014d4237" /><Relationship Type="http://schemas.openxmlformats.org/officeDocument/2006/relationships/notesSlide" Target="/ppt/notesSlides/notesSlide3.xml" Id="Rf50bb5b016ba41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41fd16356d4424" /><Relationship Type="http://schemas.openxmlformats.org/officeDocument/2006/relationships/notesSlide" Target="/ppt/notesSlides/notesSlide4.xml" Id="Ree2e3ce0775446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52b9e36dde40af" /><Relationship Type="http://schemas.openxmlformats.org/officeDocument/2006/relationships/image" Target="/ppt/media/image2.png" Id="R772f2b762afc42ad" /><Relationship Type="http://schemas.openxmlformats.org/officeDocument/2006/relationships/notesSlide" Target="/ppt/notesSlides/notesSlide5.xml" Id="R6ff796346a5945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4863158f284a61" /><Relationship Type="http://schemas.openxmlformats.org/officeDocument/2006/relationships/notesSlide" Target="/ppt/notesSlides/notesSlide6.xml" Id="Rd4bd80ddf09641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9e7ec0d0b6b4ecd" /><Relationship Type="http://schemas.openxmlformats.org/officeDocument/2006/relationships/notesSlide" Target="/ppt/notesSlides/notesSlide7.xml" Id="Rf6c694ccbcc444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be3e1e3dff6451d" /><Relationship Type="http://schemas.openxmlformats.org/officeDocument/2006/relationships/image" Target="/ppt/media/image3.png" Id="R63290429cbc84b42" /><Relationship Type="http://schemas.openxmlformats.org/officeDocument/2006/relationships/notesSlide" Target="/ppt/notesSlides/notesSlide8.xml" Id="Rbdcdab2cdb0747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185c91f0256478a" /><Relationship Type="http://schemas.openxmlformats.org/officeDocument/2006/relationships/notesSlide" Target="/ppt/notesSlides/notesSlide9.xml" Id="R0f80d8904f374a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9d65288ebcb4e13" /><Relationship Type="http://schemas.openxmlformats.org/officeDocument/2006/relationships/image" Target="/ppt/media/image4.png" Id="R112978ad5de24576" /><Relationship Type="http://schemas.openxmlformats.org/officeDocument/2006/relationships/notesSlide" Target="/ppt/notesSlides/notesSlide10.xml" Id="R093325dcd9004d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3e282c201fb42f2" /><Relationship Type="http://schemas.openxmlformats.org/officeDocument/2006/relationships/image" Target="/ppt/media/image5.png" Id="R3704e1e14fe34b9d" /><Relationship Type="http://schemas.openxmlformats.org/officeDocument/2006/relationships/notesSlide" Target="/ppt/notesSlides/notesSlide11.xml" Id="R9a9a179e469f45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f502f38e7d14784" /><Relationship Type="http://schemas.openxmlformats.org/officeDocument/2006/relationships/notesSlide" Target="/ppt/notesSlides/notesSlide12.xml" Id="R91e2cb2dd32f4d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fe391776f0484e" /><Relationship Type="http://schemas.openxmlformats.org/officeDocument/2006/relationships/notesSlide" Target="/ppt/notesSlides/notesSlide13.xml" Id="Rf46bfff0223b47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4ee3c48de90442d" /><Relationship Type="http://schemas.openxmlformats.org/officeDocument/2006/relationships/image" Target="/ppt/media/image6.png" Id="R291b55bc6e764c58" /><Relationship Type="http://schemas.openxmlformats.org/officeDocument/2006/relationships/notesSlide" Target="/ppt/notesSlides/notesSlide14.xml" Id="R500682831e87441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89e56e2636c4ad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DBC9AA5-9D29-4B80-967A-1C8FECFC382E}"/>
              </a:ext>
            </a:extLst>
          </p:cNvPr>
          <p:cNvSpPr>
            <a:spLocks xmlns:a="http://schemas.openxmlformats.org/drawingml/2006/main" noGrp="1"/>
          </p:cNvSpPr>
          <p:nvPr/>
        </p:nvSpPr>
        <p:spPr>
          <a:xfrm xmlns:a="http://schemas.openxmlformats.org/drawingml/2006/main">
            <a:off x="685800" y="1381125"/>
            <a:ext cx="7334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500" b="1">
                <a:solidFill>
                  <a:srgbClr val="0079C8"/>
                </a:solidFill>
                <a:latin typeface="Arial"/>
                <a:ea typeface="Arial"/>
                <a:cs typeface="Arial"/>
              </a:defRPr>
            </a:pPr>
            <a:r>
              <a:rPr sz="7500" b="1">
                <a:solidFill>
                  <a:srgbClr val="0079C8"/>
                </a:solidFill>
                <a:latin typeface="Arial"/>
                <a:ea typeface="Arial"/>
                <a:cs typeface="Arial"/>
              </a:rPr>
              <a:t>My Bupa</a:t>
            </a:r>
          </a:p>
          <a:p xmlns:a="http://schemas.openxmlformats.org/drawingml/2006/main">
            <a:pPr algn="l">
              <a:defRPr sz="7500" b="1">
                <a:solidFill>
                  <a:srgbClr val="0079C8"/>
                </a:solidFill>
                <a:latin typeface="Arial"/>
                <a:ea typeface="Arial"/>
                <a:cs typeface="Arial"/>
              </a:defRPr>
            </a:pPr>
            <a:r>
              <a:rPr sz="7500" b="1">
                <a:solidFill>
                  <a:srgbClr val="0079C8"/>
                </a:solidFill>
                <a:latin typeface="Arial"/>
                <a:ea typeface="Arial"/>
                <a:cs typeface="Arial"/>
              </a:rPr>
              <a:t>Agent</a:t>
            </a:r>
          </a:p>
        </p:txBody>
      </p:sp>
      <p:sp>
        <p:nvSpPr>
          <p:cNvPr id="3" name="text-2">
            <a:extLst xmlns:a="http://schemas.openxmlformats.org/drawingml/2006/main">
              <a:ext uri="{FF2B5EF4-FFF2-40B4-BE49-F238E27FC236}">
                <a16:creationId xmlns:a16="http://schemas.microsoft.com/office/drawing/2014/main" id="{26A63050-C54E-4309-BCB1-638987C64377}"/>
              </a:ext>
            </a:extLst>
          </p:cNvPr>
          <p:cNvSpPr>
            <a:spLocks xmlns:a="http://schemas.openxmlformats.org/drawingml/2006/main" noGrp="1"/>
          </p:cNvSpPr>
          <p:nvPr/>
        </p:nvSpPr>
        <p:spPr>
          <a:xfrm xmlns:a="http://schemas.openxmlformats.org/drawingml/2006/main">
            <a:off x="742950" y="3943350"/>
            <a:ext cx="6191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073B60"/>
                </a:solidFill>
                <a:latin typeface="Arial"/>
                <a:ea typeface="Arial"/>
                <a:cs typeface="Arial"/>
              </a:defRPr>
            </a:pPr>
            <a:r>
              <a:rPr sz="2775" b="0">
                <a:solidFill>
                  <a:srgbClr val="073B60"/>
                </a:solidFill>
                <a:latin typeface="Arial"/>
                <a:ea typeface="Arial"/>
                <a:cs typeface="Arial"/>
              </a:rPr>
              <a:t>Your health, handled.</a:t>
            </a:r>
          </a:p>
          <a:p xmlns:a="http://schemas.openxmlformats.org/drawingml/2006/main">
            <a:pPr algn="l">
              <a:defRPr sz="2775" b="0">
                <a:solidFill>
                  <a:srgbClr val="073B60"/>
                </a:solidFill>
                <a:latin typeface="Arial"/>
                <a:ea typeface="Arial"/>
                <a:cs typeface="Arial"/>
              </a:defRPr>
            </a:pPr>
            <a:r>
              <a:rPr sz="2775" b="0">
                <a:solidFill>
                  <a:srgbClr val="073B60"/>
                </a:solidFill>
                <a:latin typeface="Arial"/>
                <a:ea typeface="Arial"/>
                <a:cs typeface="Arial"/>
              </a:rPr>
              <a:t>In your language.</a:t>
            </a:r>
          </a:p>
        </p:txBody>
      </p:sp>
      <p:sp>
        <p:nvSpPr>
          <p:cNvPr id="4" name="text-3">
            <a:extLst xmlns:a="http://schemas.openxmlformats.org/drawingml/2006/main">
              <a:ext uri="{FF2B5EF4-FFF2-40B4-BE49-F238E27FC236}">
                <a16:creationId xmlns:a16="http://schemas.microsoft.com/office/drawing/2014/main" id="{1E81F11B-F86E-484B-9CE9-CF87F4D1E7D6}"/>
              </a:ext>
            </a:extLst>
          </p:cNvPr>
          <p:cNvSpPr>
            <a:spLocks xmlns:a="http://schemas.openxmlformats.org/drawingml/2006/main" noGrp="1"/>
          </p:cNvSpPr>
          <p:nvPr/>
        </p:nvSpPr>
        <p:spPr>
          <a:xfrm xmlns:a="http://schemas.openxmlformats.org/drawingml/2006/main">
            <a:off x="742950" y="569595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D82"/>
                </a:solidFill>
                <a:latin typeface="Arial"/>
                <a:ea typeface="Arial"/>
                <a:cs typeface="Arial"/>
              </a:defRPr>
            </a:pPr>
            <a:r>
              <a:rPr sz="1575" b="0">
                <a:solidFill>
                  <a:srgbClr val="526D82"/>
                </a:solidFill>
                <a:latin typeface="Arial"/>
                <a:ea typeface="Arial"/>
                <a:cs typeface="Arial"/>
              </a:rPr>
              <a:t>Team 4D   /   Challenge 4: Data</a:t>
            </a:r>
          </a:p>
        </p:txBody>
      </p:sp>
      <p:sp>
        <p:nvSpPr>
          <p:cNvPr id="5" name="text-4">
            <a:extLst xmlns:a="http://schemas.openxmlformats.org/drawingml/2006/main">
              <a:ext uri="{FF2B5EF4-FFF2-40B4-BE49-F238E27FC236}">
                <a16:creationId xmlns:a16="http://schemas.microsoft.com/office/drawing/2014/main" id="{48EA4033-E520-43D4-AE6C-B0DEB8605677}"/>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01 / 14</a:t>
            </a:r>
          </a:p>
        </p:txBody>
      </p:sp>
    </p:spTree>
    <p:extLst>
      <p:ext uri="{BB962C8B-B14F-4D97-AF65-F5344CB8AC3E}">
        <p14:creationId xmlns:p14="http://schemas.microsoft.com/office/powerpoint/2010/main" val="13183279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5">
            <a:extLst xmlns:a="http://schemas.openxmlformats.org/drawingml/2006/main">
              <a:ext uri="{FF2B5EF4-FFF2-40B4-BE49-F238E27FC236}">
                <a16:creationId xmlns:a16="http://schemas.microsoft.com/office/drawing/2014/main" id="{99365DD4-D4C8-45BC-AC69-9F114CC83DFA}"/>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We are the users</a:t>
            </a:r>
          </a:p>
        </p:txBody>
      </p:sp>
      <p:sp>
        <p:nvSpPr>
          <p:cNvPr id="2" name="text-6">
            <a:extLst xmlns:a="http://schemas.openxmlformats.org/drawingml/2006/main">
              <a:ext uri="{FF2B5EF4-FFF2-40B4-BE49-F238E27FC236}">
                <a16:creationId xmlns:a16="http://schemas.microsoft.com/office/drawing/2014/main" id="{73168B4B-60FA-4D0D-96B8-7CB29084B983}"/>
              </a:ext>
            </a:extLst>
          </p:cNvPr>
          <p:cNvSpPr>
            <a:spLocks xmlns:a="http://schemas.openxmlformats.org/drawingml/2006/main" noGrp="1"/>
          </p:cNvSpPr>
          <p:nvPr/>
        </p:nvSpPr>
        <p:spPr>
          <a:xfrm xmlns:a="http://schemas.openxmlformats.org/drawingml/2006/main">
            <a:off x="685800" y="2362200"/>
            <a:ext cx="4476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079C8"/>
                </a:solidFill>
                <a:latin typeface="Arial"/>
                <a:ea typeface="Arial"/>
                <a:cs typeface="Arial"/>
              </a:defRPr>
            </a:pPr>
            <a:r>
              <a:rPr sz="3300" b="1">
                <a:solidFill>
                  <a:srgbClr val="0079C8"/>
                </a:solidFill>
                <a:latin typeface="Arial"/>
                <a:ea typeface="Arial"/>
                <a:cs typeface="Arial"/>
              </a:rPr>
              <a:t>Having insurance</a:t>
            </a:r>
          </a:p>
          <a:p xmlns:a="http://schemas.openxmlformats.org/drawingml/2006/main">
            <a:pPr algn="l">
              <a:defRPr sz="3300" b="1">
                <a:solidFill>
                  <a:srgbClr val="0079C8"/>
                </a:solidFill>
                <a:latin typeface="Arial"/>
                <a:ea typeface="Arial"/>
                <a:cs typeface="Arial"/>
              </a:defRPr>
            </a:pPr>
            <a:r>
              <a:rPr sz="3300" b="1">
                <a:solidFill>
                  <a:srgbClr val="0079C8"/>
                </a:solidFill>
                <a:latin typeface="Arial"/>
                <a:ea typeface="Arial"/>
                <a:cs typeface="Arial"/>
              </a:rPr>
              <a:t>did not make the</a:t>
            </a:r>
          </a:p>
          <a:p xmlns:a="http://schemas.openxmlformats.org/drawingml/2006/main">
            <a:pPr algn="l">
              <a:defRPr sz="3300" b="1">
                <a:solidFill>
                  <a:srgbClr val="0079C8"/>
                </a:solidFill>
                <a:latin typeface="Arial"/>
                <a:ea typeface="Arial"/>
                <a:cs typeface="Arial"/>
              </a:defRPr>
            </a:pPr>
            <a:r>
              <a:rPr sz="3300" b="1">
                <a:solidFill>
                  <a:srgbClr val="0079C8"/>
                </a:solidFill>
                <a:latin typeface="Arial"/>
                <a:ea typeface="Arial"/>
                <a:cs typeface="Arial"/>
              </a:rPr>
              <a:t>next step clear.</a:t>
            </a:r>
          </a:p>
        </p:txBody>
      </p:sp>
      <p:sp>
        <p:nvSpPr>
          <p:cNvPr id="3" name="text-7">
            <a:extLst xmlns:a="http://schemas.openxmlformats.org/drawingml/2006/main">
              <a:ext uri="{FF2B5EF4-FFF2-40B4-BE49-F238E27FC236}">
                <a16:creationId xmlns:a16="http://schemas.microsoft.com/office/drawing/2014/main" id="{0528FF42-0CE7-4352-ADDF-868BE6428642}"/>
              </a:ext>
            </a:extLst>
          </p:cNvPr>
          <p:cNvSpPr>
            <a:spLocks xmlns:a="http://schemas.openxmlformats.org/drawingml/2006/main" noGrp="1"/>
          </p:cNvSpPr>
          <p:nvPr/>
        </p:nvSpPr>
        <p:spPr>
          <a:xfrm xmlns:a="http://schemas.openxmlformats.org/drawingml/2006/main">
            <a:off x="5953125" y="218122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79C8"/>
                </a:solidFill>
                <a:latin typeface="Arial"/>
                <a:ea typeface="Arial"/>
                <a:cs typeface="Arial"/>
              </a:defRPr>
            </a:pPr>
            <a:r>
              <a:rPr sz="1650" b="1">
                <a:solidFill>
                  <a:srgbClr val="0079C8"/>
                </a:solidFill>
                <a:latin typeface="Arial"/>
                <a:ea typeface="Arial"/>
                <a:cs typeface="Arial"/>
              </a:rPr>
              <a:t>01</a:t>
            </a:r>
          </a:p>
        </p:txBody>
      </p:sp>
      <p:sp>
        <p:nvSpPr>
          <p:cNvPr id="4" name="text-8">
            <a:extLst xmlns:a="http://schemas.openxmlformats.org/drawingml/2006/main">
              <a:ext uri="{FF2B5EF4-FFF2-40B4-BE49-F238E27FC236}">
                <a16:creationId xmlns:a16="http://schemas.microsoft.com/office/drawing/2014/main" id="{4AB247D4-E3C7-41D9-8D95-356EDE86F432}"/>
              </a:ext>
            </a:extLst>
          </p:cNvPr>
          <p:cNvSpPr>
            <a:spLocks xmlns:a="http://schemas.openxmlformats.org/drawingml/2006/main" noGrp="1"/>
          </p:cNvSpPr>
          <p:nvPr/>
        </p:nvSpPr>
        <p:spPr>
          <a:xfrm xmlns:a="http://schemas.openxmlformats.org/drawingml/2006/main">
            <a:off x="6772275" y="2133600"/>
            <a:ext cx="4676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An unfamiliar</a:t>
            </a:r>
          </a:p>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healthcare system</a:t>
            </a:r>
          </a:p>
        </p:txBody>
      </p:sp>
      <p:sp>
        <p:nvSpPr>
          <p:cNvPr id="5" name="text-9">
            <a:extLst xmlns:a="http://schemas.openxmlformats.org/drawingml/2006/main">
              <a:ext uri="{FF2B5EF4-FFF2-40B4-BE49-F238E27FC236}">
                <a16:creationId xmlns:a16="http://schemas.microsoft.com/office/drawing/2014/main" id="{38A852D2-B649-47D9-A27B-1DB9533CEC7E}"/>
              </a:ext>
            </a:extLst>
          </p:cNvPr>
          <p:cNvSpPr>
            <a:spLocks xmlns:a="http://schemas.openxmlformats.org/drawingml/2006/main" noGrp="1"/>
          </p:cNvSpPr>
          <p:nvPr/>
        </p:nvSpPr>
        <p:spPr>
          <a:xfrm xmlns:a="http://schemas.openxmlformats.org/drawingml/2006/main">
            <a:off x="5953125" y="3429000"/>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79C8"/>
                </a:solidFill>
                <a:latin typeface="Arial"/>
                <a:ea typeface="Arial"/>
                <a:cs typeface="Arial"/>
              </a:defRPr>
            </a:pPr>
            <a:r>
              <a:rPr sz="1650" b="1">
                <a:solidFill>
                  <a:srgbClr val="0079C8"/>
                </a:solidFill>
                <a:latin typeface="Arial"/>
                <a:ea typeface="Arial"/>
                <a:cs typeface="Arial"/>
              </a:rPr>
              <a:t>02</a:t>
            </a:r>
          </a:p>
        </p:txBody>
      </p:sp>
      <p:sp>
        <p:nvSpPr>
          <p:cNvPr id="6" name="text-10">
            <a:extLst xmlns:a="http://schemas.openxmlformats.org/drawingml/2006/main">
              <a:ext uri="{FF2B5EF4-FFF2-40B4-BE49-F238E27FC236}">
                <a16:creationId xmlns:a16="http://schemas.microsoft.com/office/drawing/2014/main" id="{DB71C514-F730-43B0-8B2C-C2683995B0D8}"/>
              </a:ext>
            </a:extLst>
          </p:cNvPr>
          <p:cNvSpPr>
            <a:spLocks xmlns:a="http://schemas.openxmlformats.org/drawingml/2006/main" noGrp="1"/>
          </p:cNvSpPr>
          <p:nvPr/>
        </p:nvSpPr>
        <p:spPr>
          <a:xfrm xmlns:a="http://schemas.openxmlformats.org/drawingml/2006/main">
            <a:off x="6772275" y="3381375"/>
            <a:ext cx="4676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Cover we struggled</a:t>
            </a:r>
          </a:p>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to understand</a:t>
            </a:r>
          </a:p>
        </p:txBody>
      </p:sp>
      <p:sp>
        <p:nvSpPr>
          <p:cNvPr id="7" name="text-11">
            <a:extLst xmlns:a="http://schemas.openxmlformats.org/drawingml/2006/main">
              <a:ext uri="{FF2B5EF4-FFF2-40B4-BE49-F238E27FC236}">
                <a16:creationId xmlns:a16="http://schemas.microsoft.com/office/drawing/2014/main" id="{36E111BC-D91B-435C-BDE2-26D6B985BE25}"/>
              </a:ext>
            </a:extLst>
          </p:cNvPr>
          <p:cNvSpPr>
            <a:spLocks xmlns:a="http://schemas.openxmlformats.org/drawingml/2006/main" noGrp="1"/>
          </p:cNvSpPr>
          <p:nvPr/>
        </p:nvSpPr>
        <p:spPr>
          <a:xfrm xmlns:a="http://schemas.openxmlformats.org/drawingml/2006/main">
            <a:off x="5953125" y="4676775"/>
            <a:ext cx="57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79C8"/>
                </a:solidFill>
                <a:latin typeface="Arial"/>
                <a:ea typeface="Arial"/>
                <a:cs typeface="Arial"/>
              </a:defRPr>
            </a:pPr>
            <a:r>
              <a:rPr sz="1650" b="1">
                <a:solidFill>
                  <a:srgbClr val="0079C8"/>
                </a:solidFill>
                <a:latin typeface="Arial"/>
                <a:ea typeface="Arial"/>
                <a:cs typeface="Arial"/>
              </a:rPr>
              <a:t>03</a:t>
            </a:r>
          </a:p>
        </p:txBody>
      </p:sp>
      <p:sp>
        <p:nvSpPr>
          <p:cNvPr id="8" name="text-12">
            <a:extLst xmlns:a="http://schemas.openxmlformats.org/drawingml/2006/main">
              <a:ext uri="{FF2B5EF4-FFF2-40B4-BE49-F238E27FC236}">
                <a16:creationId xmlns:a16="http://schemas.microsoft.com/office/drawing/2014/main" id="{72BAE76E-4C6F-4230-91A2-B611F734234C}"/>
              </a:ext>
            </a:extLst>
          </p:cNvPr>
          <p:cNvSpPr>
            <a:spLocks xmlns:a="http://schemas.openxmlformats.org/drawingml/2006/main" noGrp="1"/>
          </p:cNvSpPr>
          <p:nvPr/>
        </p:nvSpPr>
        <p:spPr>
          <a:xfrm xmlns:a="http://schemas.openxmlformats.org/drawingml/2006/main">
            <a:off x="6772275" y="4629150"/>
            <a:ext cx="46767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Medical conversations</a:t>
            </a:r>
          </a:p>
          <a:p xmlns:a="http://schemas.openxmlformats.org/drawingml/2006/main">
            <a:pPr algn="l">
              <a:defRPr sz="2325" b="0">
                <a:solidFill>
                  <a:srgbClr val="073B60"/>
                </a:solidFill>
                <a:latin typeface="Arial"/>
                <a:ea typeface="Arial"/>
                <a:cs typeface="Arial"/>
              </a:defRPr>
            </a:pPr>
            <a:r>
              <a:rPr sz="2325" b="0">
                <a:solidFill>
                  <a:srgbClr val="073B60"/>
                </a:solidFill>
                <a:latin typeface="Arial"/>
                <a:ea typeface="Arial"/>
                <a:cs typeface="Arial"/>
              </a:rPr>
              <a:t>in a second language</a:t>
            </a:r>
          </a:p>
        </p:txBody>
      </p:sp>
      <p:sp>
        <p:nvSpPr>
          <p:cNvPr id="9" name="text-13">
            <a:extLst xmlns:a="http://schemas.openxmlformats.org/drawingml/2006/main">
              <a:ext uri="{FF2B5EF4-FFF2-40B4-BE49-F238E27FC236}">
                <a16:creationId xmlns:a16="http://schemas.microsoft.com/office/drawing/2014/main" id="{5E1535AC-CB92-4D58-B37A-F0DA7D04FAB1}"/>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02 / 14</a:t>
            </a:r>
          </a:p>
        </p:txBody>
      </p:sp>
    </p:spTree>
    <p:extLst>
      <p:ext uri="{BB962C8B-B14F-4D97-AF65-F5344CB8AC3E}">
        <p14:creationId xmlns:p14="http://schemas.microsoft.com/office/powerpoint/2010/main" val="1395601331"/>
      </p:ext>
    </p:extLst>
  </p:cSld>
</p:sld>
</file>

<file path=ppt/slides/slide3.xml><?xml version="1.0" encoding="utf-8"?>
<p:sld xmlns:p="http://schemas.openxmlformats.org/presentationml/2006/main">
  <p:cSld>
    <p:bg>
      <p:bgPr>
        <a:solidFill xmlns:a="http://schemas.openxmlformats.org/drawingml/2006/main">
          <a:srgbClr val="0079C8"/>
        </a:solidFill>
      </p:bgPr>
    </p:bg>
    <p:spTree>
      <p:nvGrpSpPr>
        <p:cNvPr id="1" name=""/>
        <p:cNvGrpSpPr/>
        <p:nvPr/>
      </p:nvGrpSpPr>
      <p:grpSpPr>
        <a:xfrm xmlns:a="http://schemas.openxmlformats.org/drawingml/2006/main"/>
      </p:grpSpPr>
      <p:sp>
        <p:nvSpPr>
          <p:cNvPr id="7" name="text-14">
            <a:extLst xmlns:a="http://schemas.openxmlformats.org/drawingml/2006/main">
              <a:ext uri="{FF2B5EF4-FFF2-40B4-BE49-F238E27FC236}">
                <a16:creationId xmlns:a16="http://schemas.microsoft.com/office/drawing/2014/main" id="{3235FE5E-4149-4B53-B6BB-AF1E00B40360}"/>
              </a:ext>
            </a:extLst>
          </p:cNvPr>
          <p:cNvSpPr>
            <a:spLocks xmlns:a="http://schemas.openxmlformats.org/drawingml/2006/main" noGrp="1"/>
          </p:cNvSpPr>
          <p:nvPr/>
        </p:nvSpPr>
        <p:spPr>
          <a:xfrm xmlns:a="http://schemas.openxmlformats.org/drawingml/2006/main">
            <a:off x="685800" y="6191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FFFFFF"/>
                </a:solidFill>
                <a:latin typeface="Arial"/>
                <a:ea typeface="Arial"/>
                <a:cs typeface="Arial"/>
              </a:defRPr>
            </a:pPr>
            <a:r>
              <a:rPr sz="3750" b="1">
                <a:solidFill>
                  <a:srgbClr val="FFFFFF"/>
                </a:solidFill>
                <a:latin typeface="Arial"/>
                <a:ea typeface="Arial"/>
                <a:cs typeface="Arial"/>
              </a:rPr>
              <a:t>Cost can delay access to care</a:t>
            </a:r>
          </a:p>
        </p:txBody>
      </p:sp>
      <p:sp>
        <p:nvSpPr>
          <p:cNvPr id="2" name="text-15">
            <a:extLst xmlns:a="http://schemas.openxmlformats.org/drawingml/2006/main">
              <a:ext uri="{FF2B5EF4-FFF2-40B4-BE49-F238E27FC236}">
                <a16:creationId xmlns:a16="http://schemas.microsoft.com/office/drawing/2014/main" id="{0855842F-139F-4B19-8369-15BF4D92B071}"/>
              </a:ext>
            </a:extLst>
          </p:cNvPr>
          <p:cNvSpPr>
            <a:spLocks xmlns:a="http://schemas.openxmlformats.org/drawingml/2006/main" noGrp="1"/>
          </p:cNvSpPr>
          <p:nvPr/>
        </p:nvSpPr>
        <p:spPr>
          <a:xfrm xmlns:a="http://schemas.openxmlformats.org/drawingml/2006/main">
            <a:off x="600075" y="1819275"/>
            <a:ext cx="109537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600" b="1">
                <a:solidFill>
                  <a:srgbClr val="FFFFFF"/>
                </a:solidFill>
                <a:latin typeface="Arial"/>
                <a:ea typeface="Arial"/>
                <a:cs typeface="Arial"/>
              </a:defRPr>
            </a:pPr>
            <a:r>
              <a:rPr sz="12600" b="1">
                <a:solidFill>
                  <a:srgbClr val="FFFFFF"/>
                </a:solidFill>
                <a:latin typeface="Arial"/>
                <a:ea typeface="Arial"/>
                <a:cs typeface="Arial"/>
              </a:rPr>
              <a:t>13.0%</a:t>
            </a:r>
          </a:p>
        </p:txBody>
      </p:sp>
      <p:sp>
        <p:nvSpPr>
          <p:cNvPr id="3" name="text-16">
            <a:extLst xmlns:a="http://schemas.openxmlformats.org/drawingml/2006/main">
              <a:ext uri="{FF2B5EF4-FFF2-40B4-BE49-F238E27FC236}">
                <a16:creationId xmlns:a16="http://schemas.microsoft.com/office/drawing/2014/main" id="{80FDD9EE-D9FD-428E-8E9F-11C4680D97B5}"/>
              </a:ext>
            </a:extLst>
          </p:cNvPr>
          <p:cNvSpPr>
            <a:spLocks xmlns:a="http://schemas.openxmlformats.org/drawingml/2006/main" noGrp="1"/>
          </p:cNvSpPr>
          <p:nvPr/>
        </p:nvSpPr>
        <p:spPr>
          <a:xfrm xmlns:a="http://schemas.openxmlformats.org/drawingml/2006/main">
            <a:off x="723900" y="401002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of people aged 25–34 who needed a GP delayed</a:t>
            </a:r>
          </a:p>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or went without a visit because of cost.</a:t>
            </a:r>
          </a:p>
        </p:txBody>
      </p:sp>
      <p:sp>
        <p:nvSpPr>
          <p:cNvPr id="4" name="text-17">
            <a:extLst xmlns:a="http://schemas.openxmlformats.org/drawingml/2006/main">
              <a:ext uri="{FF2B5EF4-FFF2-40B4-BE49-F238E27FC236}">
                <a16:creationId xmlns:a16="http://schemas.microsoft.com/office/drawing/2014/main" id="{95B068AF-42DE-4A66-B492-0B27C03E8FA8}"/>
              </a:ext>
            </a:extLst>
          </p:cNvPr>
          <p:cNvSpPr>
            <a:spLocks xmlns:a="http://schemas.openxmlformats.org/drawingml/2006/main" noGrp="1"/>
          </p:cNvSpPr>
          <p:nvPr/>
        </p:nvSpPr>
        <p:spPr>
          <a:xfrm xmlns:a="http://schemas.openxmlformats.org/drawingml/2006/main">
            <a:off x="742950" y="5400675"/>
            <a:ext cx="809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Australia, 2024–25</a:t>
            </a:r>
          </a:p>
        </p:txBody>
      </p:sp>
      <p:sp>
        <p:nvSpPr>
          <p:cNvPr id="5" name="text-18">
            <a:extLst xmlns:a="http://schemas.openxmlformats.org/drawingml/2006/main">
              <a:ext uri="{FF2B5EF4-FFF2-40B4-BE49-F238E27FC236}">
                <a16:creationId xmlns:a16="http://schemas.microsoft.com/office/drawing/2014/main" id="{10502EED-B940-4243-9B20-4BD82F3BCCE1}"/>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C8E9FC"/>
                </a:solidFill>
                <a:latin typeface="Arial"/>
                <a:ea typeface="Arial"/>
                <a:cs typeface="Arial"/>
              </a:defRPr>
            </a:pPr>
            <a:r>
              <a:rPr sz="1125" b="0">
                <a:solidFill>
                  <a:srgbClr val="C8E9FC"/>
                </a:solidFill>
                <a:latin typeface="Arial"/>
                <a:ea typeface="Arial"/>
                <a:cs typeface="Arial"/>
              </a:rPr>
              <a:t>ABS, Patient Experiences 2024–25. National data, not specific to Bupa or international students.</a:t>
            </a:r>
          </a:p>
        </p:txBody>
      </p:sp>
      <p:sp>
        <p:nvSpPr>
          <p:cNvPr id="6" name="text-19">
            <a:extLst xmlns:a="http://schemas.openxmlformats.org/drawingml/2006/main">
              <a:ext uri="{FF2B5EF4-FFF2-40B4-BE49-F238E27FC236}">
                <a16:creationId xmlns:a16="http://schemas.microsoft.com/office/drawing/2014/main" id="{55BBC982-2386-4784-8B9D-145EEC8B9A6C}"/>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C8E9FC"/>
                </a:solidFill>
                <a:latin typeface="Arial"/>
                <a:ea typeface="Arial"/>
                <a:cs typeface="Arial"/>
              </a:defRPr>
            </a:pPr>
            <a:r>
              <a:rPr sz="1125" b="0">
                <a:solidFill>
                  <a:srgbClr val="C8E9FC"/>
                </a:solidFill>
                <a:latin typeface="Arial"/>
                <a:ea typeface="Arial"/>
                <a:cs typeface="Arial"/>
              </a:rPr>
              <a:t>03 / 14</a:t>
            </a:r>
          </a:p>
        </p:txBody>
      </p:sp>
    </p:spTree>
    <p:extLst>
      <p:ext uri="{BB962C8B-B14F-4D97-AF65-F5344CB8AC3E}">
        <p14:creationId xmlns:p14="http://schemas.microsoft.com/office/powerpoint/2010/main" val="19069554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20">
            <a:extLst xmlns:a="http://schemas.openxmlformats.org/drawingml/2006/main">
              <a:ext uri="{FF2B5EF4-FFF2-40B4-BE49-F238E27FC236}">
                <a16:creationId xmlns:a16="http://schemas.microsoft.com/office/drawing/2014/main" id="{FFC60D8D-78C0-4732-8C8A-CC1624AD0693}"/>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Meet Lin</a:t>
            </a:r>
          </a:p>
        </p:txBody>
      </p:sp>
      <p:sp>
        <p:nvSpPr>
          <p:cNvPr id="2" name="text-21">
            <a:extLst xmlns:a="http://schemas.openxmlformats.org/drawingml/2006/main">
              <a:ext uri="{FF2B5EF4-FFF2-40B4-BE49-F238E27FC236}">
                <a16:creationId xmlns:a16="http://schemas.microsoft.com/office/drawing/2014/main" id="{48694537-97EE-4BE0-BAA0-2E3B380EDFE5}"/>
              </a:ext>
            </a:extLst>
          </p:cNvPr>
          <p:cNvSpPr>
            <a:spLocks xmlns:a="http://schemas.openxmlformats.org/drawingml/2006/main" noGrp="1"/>
          </p:cNvSpPr>
          <p:nvPr/>
        </p:nvSpPr>
        <p:spPr>
          <a:xfrm xmlns:a="http://schemas.openxmlformats.org/drawingml/2006/main">
            <a:off x="695325" y="1981200"/>
            <a:ext cx="395287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250" b="1">
                <a:solidFill>
                  <a:srgbClr val="0079C8"/>
                </a:solidFill>
                <a:latin typeface="Arial"/>
                <a:ea typeface="Arial"/>
                <a:cs typeface="Arial"/>
              </a:defRPr>
            </a:pPr>
            <a:r>
              <a:rPr sz="8250" b="1">
                <a:solidFill>
                  <a:srgbClr val="0079C8"/>
                </a:solidFill>
                <a:latin typeface="Arial"/>
                <a:ea typeface="Arial"/>
                <a:cs typeface="Arial"/>
              </a:rPr>
              <a:t>Lin</a:t>
            </a:r>
          </a:p>
        </p:txBody>
      </p:sp>
      <p:sp>
        <p:nvSpPr>
          <p:cNvPr id="3" name="text-22">
            <a:extLst xmlns:a="http://schemas.openxmlformats.org/drawingml/2006/main">
              <a:ext uri="{FF2B5EF4-FFF2-40B4-BE49-F238E27FC236}">
                <a16:creationId xmlns:a16="http://schemas.microsoft.com/office/drawing/2014/main" id="{DE4F1DF6-A068-4391-A659-8181F1916261}"/>
              </a:ext>
            </a:extLst>
          </p:cNvPr>
          <p:cNvSpPr>
            <a:spLocks xmlns:a="http://schemas.openxmlformats.org/drawingml/2006/main" noGrp="1"/>
          </p:cNvSpPr>
          <p:nvPr/>
        </p:nvSpPr>
        <p:spPr>
          <a:xfrm xmlns:a="http://schemas.openxmlformats.org/drawingml/2006/main">
            <a:off x="742950" y="3629025"/>
            <a:ext cx="421957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D82"/>
                </a:solidFill>
                <a:latin typeface="Arial"/>
                <a:ea typeface="Arial"/>
                <a:cs typeface="Arial"/>
              </a:defRPr>
            </a:pPr>
            <a:r>
              <a:rPr sz="2025" b="0">
                <a:solidFill>
                  <a:srgbClr val="526D82"/>
                </a:solidFill>
                <a:latin typeface="Arial"/>
                <a:ea typeface="Arial"/>
                <a:cs typeface="Arial"/>
              </a:rPr>
              <a:t>24-year-old international student</a:t>
            </a:r>
          </a:p>
          <a:p xmlns:a="http://schemas.openxmlformats.org/drawingml/2006/main">
            <a:pPr algn="l">
              <a:defRPr sz="2025" b="0">
                <a:solidFill>
                  <a:srgbClr val="526D82"/>
                </a:solidFill>
                <a:latin typeface="Arial"/>
                <a:ea typeface="Arial"/>
                <a:cs typeface="Arial"/>
              </a:defRPr>
            </a:pPr>
            <a:r>
              <a:rPr sz="2025" b="0">
                <a:solidFill>
                  <a:srgbClr val="526D82"/>
                </a:solidFill>
                <a:latin typeface="Arial"/>
                <a:ea typeface="Arial"/>
                <a:cs typeface="Arial"/>
              </a:rPr>
              <a:t>New to Melbourne</a:t>
            </a:r>
          </a:p>
          <a:p xmlns:a="http://schemas.openxmlformats.org/drawingml/2006/main">
            <a:pPr algn="l">
              <a:defRPr sz="2025" b="0">
                <a:solidFill>
                  <a:srgbClr val="526D82"/>
                </a:solidFill>
                <a:latin typeface="Arial"/>
                <a:ea typeface="Arial"/>
                <a:cs typeface="Arial"/>
              </a:defRPr>
            </a:pPr>
            <a:r>
              <a:rPr sz="2025" b="0">
                <a:solidFill>
                  <a:srgbClr val="526D82"/>
                </a:solidFill>
                <a:latin typeface="Arial"/>
                <a:ea typeface="Arial"/>
                <a:cs typeface="Arial"/>
              </a:rPr>
              <a:t>Bupa OSHC member</a:t>
            </a:r>
          </a:p>
        </p:txBody>
      </p:sp>
      <p:sp>
        <p:nvSpPr>
          <p:cNvPr id="4" name="text-23">
            <a:extLst xmlns:a="http://schemas.openxmlformats.org/drawingml/2006/main">
              <a:ext uri="{FF2B5EF4-FFF2-40B4-BE49-F238E27FC236}">
                <a16:creationId xmlns:a16="http://schemas.microsoft.com/office/drawing/2014/main" id="{A34E05A4-1F7F-4610-9F8E-1C15A5019E2A}"/>
              </a:ext>
            </a:extLst>
          </p:cNvPr>
          <p:cNvSpPr>
            <a:spLocks xmlns:a="http://schemas.openxmlformats.org/drawingml/2006/main" noGrp="1"/>
          </p:cNvSpPr>
          <p:nvPr/>
        </p:nvSpPr>
        <p:spPr>
          <a:xfrm xmlns:a="http://schemas.openxmlformats.org/drawingml/2006/main">
            <a:off x="5819775" y="20859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79C8"/>
                </a:solidFill>
                <a:latin typeface="Arial"/>
                <a:ea typeface="Arial"/>
                <a:cs typeface="Arial"/>
              </a:defRPr>
            </a:pPr>
            <a:r>
              <a:rPr sz="1575" b="1">
                <a:solidFill>
                  <a:srgbClr val="0079C8"/>
                </a:solidFill>
                <a:latin typeface="Arial"/>
                <a:ea typeface="Arial"/>
                <a:cs typeface="Arial"/>
              </a:rPr>
              <a:t>01</a:t>
            </a:r>
          </a:p>
        </p:txBody>
      </p:sp>
      <p:sp>
        <p:nvSpPr>
          <p:cNvPr id="5" name="text-24">
            <a:extLst xmlns:a="http://schemas.openxmlformats.org/drawingml/2006/main">
              <a:ext uri="{FF2B5EF4-FFF2-40B4-BE49-F238E27FC236}">
                <a16:creationId xmlns:a16="http://schemas.microsoft.com/office/drawing/2014/main" id="{41EA9C1B-1256-4059-8A93-05B4E608B132}"/>
              </a:ext>
            </a:extLst>
          </p:cNvPr>
          <p:cNvSpPr>
            <a:spLocks xmlns:a="http://schemas.openxmlformats.org/drawingml/2006/main" noGrp="1"/>
          </p:cNvSpPr>
          <p:nvPr/>
        </p:nvSpPr>
        <p:spPr>
          <a:xfrm xmlns:a="http://schemas.openxmlformats.org/drawingml/2006/main">
            <a:off x="6572250" y="20478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What does my cover include?</a:t>
            </a:r>
          </a:p>
        </p:txBody>
      </p:sp>
      <p:sp>
        <p:nvSpPr>
          <p:cNvPr id="6" name="text-25">
            <a:extLst xmlns:a="http://schemas.openxmlformats.org/drawingml/2006/main">
              <a:ext uri="{FF2B5EF4-FFF2-40B4-BE49-F238E27FC236}">
                <a16:creationId xmlns:a16="http://schemas.microsoft.com/office/drawing/2014/main" id="{8E71F173-C12A-4241-8ABA-AC444E2A4C67}"/>
              </a:ext>
            </a:extLst>
          </p:cNvPr>
          <p:cNvSpPr>
            <a:spLocks xmlns:a="http://schemas.openxmlformats.org/drawingml/2006/main" noGrp="1"/>
          </p:cNvSpPr>
          <p:nvPr/>
        </p:nvSpPr>
        <p:spPr>
          <a:xfrm xmlns:a="http://schemas.openxmlformats.org/drawingml/2006/main">
            <a:off x="5819775" y="29813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79C8"/>
                </a:solidFill>
                <a:latin typeface="Arial"/>
                <a:ea typeface="Arial"/>
                <a:cs typeface="Arial"/>
              </a:defRPr>
            </a:pPr>
            <a:r>
              <a:rPr sz="1575" b="1">
                <a:solidFill>
                  <a:srgbClr val="0079C8"/>
                </a:solidFill>
                <a:latin typeface="Arial"/>
                <a:ea typeface="Arial"/>
                <a:cs typeface="Arial"/>
              </a:rPr>
              <a:t>02</a:t>
            </a:r>
          </a:p>
        </p:txBody>
      </p:sp>
      <p:sp>
        <p:nvSpPr>
          <p:cNvPr id="7" name="text-26">
            <a:extLst xmlns:a="http://schemas.openxmlformats.org/drawingml/2006/main">
              <a:ext uri="{FF2B5EF4-FFF2-40B4-BE49-F238E27FC236}">
                <a16:creationId xmlns:a16="http://schemas.microsoft.com/office/drawing/2014/main" id="{0776710D-CF04-48D7-9C30-56F68D583B7E}"/>
              </a:ext>
            </a:extLst>
          </p:cNvPr>
          <p:cNvSpPr>
            <a:spLocks xmlns:a="http://schemas.openxmlformats.org/drawingml/2006/main" noGrp="1"/>
          </p:cNvSpPr>
          <p:nvPr/>
        </p:nvSpPr>
        <p:spPr>
          <a:xfrm xmlns:a="http://schemas.openxmlformats.org/drawingml/2006/main">
            <a:off x="6572250" y="294322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Where should I go?</a:t>
            </a:r>
          </a:p>
        </p:txBody>
      </p:sp>
      <p:sp>
        <p:nvSpPr>
          <p:cNvPr id="8" name="text-27">
            <a:extLst xmlns:a="http://schemas.openxmlformats.org/drawingml/2006/main">
              <a:ext uri="{FF2B5EF4-FFF2-40B4-BE49-F238E27FC236}">
                <a16:creationId xmlns:a16="http://schemas.microsoft.com/office/drawing/2014/main" id="{B21285EF-240B-4C2F-A054-E8D274D34236}"/>
              </a:ext>
            </a:extLst>
          </p:cNvPr>
          <p:cNvSpPr>
            <a:spLocks xmlns:a="http://schemas.openxmlformats.org/drawingml/2006/main" noGrp="1"/>
          </p:cNvSpPr>
          <p:nvPr/>
        </p:nvSpPr>
        <p:spPr>
          <a:xfrm xmlns:a="http://schemas.openxmlformats.org/drawingml/2006/main">
            <a:off x="5819775" y="387667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79C8"/>
                </a:solidFill>
                <a:latin typeface="Arial"/>
                <a:ea typeface="Arial"/>
                <a:cs typeface="Arial"/>
              </a:defRPr>
            </a:pPr>
            <a:r>
              <a:rPr sz="1575" b="1">
                <a:solidFill>
                  <a:srgbClr val="0079C8"/>
                </a:solidFill>
                <a:latin typeface="Arial"/>
                <a:ea typeface="Arial"/>
                <a:cs typeface="Arial"/>
              </a:rPr>
              <a:t>03</a:t>
            </a:r>
          </a:p>
        </p:txBody>
      </p:sp>
      <p:sp>
        <p:nvSpPr>
          <p:cNvPr id="9" name="text-28">
            <a:extLst xmlns:a="http://schemas.openxmlformats.org/drawingml/2006/main">
              <a:ext uri="{FF2B5EF4-FFF2-40B4-BE49-F238E27FC236}">
                <a16:creationId xmlns:a16="http://schemas.microsoft.com/office/drawing/2014/main" id="{6EDAD31D-484F-4A9D-9EDF-F440A3E42DB7}"/>
              </a:ext>
            </a:extLst>
          </p:cNvPr>
          <p:cNvSpPr>
            <a:spLocks xmlns:a="http://schemas.openxmlformats.org/drawingml/2006/main" noGrp="1"/>
          </p:cNvSpPr>
          <p:nvPr/>
        </p:nvSpPr>
        <p:spPr>
          <a:xfrm xmlns:a="http://schemas.openxmlformats.org/drawingml/2006/main">
            <a:off x="6572250" y="383857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Can I use my language?</a:t>
            </a:r>
          </a:p>
        </p:txBody>
      </p:sp>
      <p:sp>
        <p:nvSpPr>
          <p:cNvPr id="10" name="text-29">
            <a:extLst xmlns:a="http://schemas.openxmlformats.org/drawingml/2006/main">
              <a:ext uri="{FF2B5EF4-FFF2-40B4-BE49-F238E27FC236}">
                <a16:creationId xmlns:a16="http://schemas.microsoft.com/office/drawing/2014/main" id="{7D12BA9B-DC58-4659-93CC-DF5C470FE1E9}"/>
              </a:ext>
            </a:extLst>
          </p:cNvPr>
          <p:cNvSpPr>
            <a:spLocks xmlns:a="http://schemas.openxmlformats.org/drawingml/2006/main" noGrp="1"/>
          </p:cNvSpPr>
          <p:nvPr/>
        </p:nvSpPr>
        <p:spPr>
          <a:xfrm xmlns:a="http://schemas.openxmlformats.org/drawingml/2006/main">
            <a:off x="5819775" y="4772025"/>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079C8"/>
                </a:solidFill>
                <a:latin typeface="Arial"/>
                <a:ea typeface="Arial"/>
                <a:cs typeface="Arial"/>
              </a:defRPr>
            </a:pPr>
            <a:r>
              <a:rPr sz="1575" b="1">
                <a:solidFill>
                  <a:srgbClr val="0079C8"/>
                </a:solidFill>
                <a:latin typeface="Arial"/>
                <a:ea typeface="Arial"/>
                <a:cs typeface="Arial"/>
              </a:rPr>
              <a:t>04</a:t>
            </a:r>
          </a:p>
        </p:txBody>
      </p:sp>
      <p:sp>
        <p:nvSpPr>
          <p:cNvPr id="11" name="text-30">
            <a:extLst xmlns:a="http://schemas.openxmlformats.org/drawingml/2006/main">
              <a:ext uri="{FF2B5EF4-FFF2-40B4-BE49-F238E27FC236}">
                <a16:creationId xmlns:a16="http://schemas.microsoft.com/office/drawing/2014/main" id="{490D2F1C-DB97-4E7B-B025-B00FEF15ECAA}"/>
              </a:ext>
            </a:extLst>
          </p:cNvPr>
          <p:cNvSpPr>
            <a:spLocks xmlns:a="http://schemas.openxmlformats.org/drawingml/2006/main" noGrp="1"/>
          </p:cNvSpPr>
          <p:nvPr/>
        </p:nvSpPr>
        <p:spPr>
          <a:xfrm xmlns:a="http://schemas.openxmlformats.org/drawingml/2006/main">
            <a:off x="6572250" y="4733925"/>
            <a:ext cx="485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9C8"/>
                </a:solidFill>
                <a:latin typeface="Arial"/>
                <a:ea typeface="Arial"/>
                <a:cs typeface="Arial"/>
              </a:defRPr>
            </a:pPr>
            <a:r>
              <a:rPr sz="2625" b="1">
                <a:solidFill>
                  <a:srgbClr val="0079C8"/>
                </a:solidFill>
                <a:latin typeface="Arial"/>
                <a:ea typeface="Arial"/>
                <a:cs typeface="Arial"/>
              </a:rPr>
              <a:t>How do I get it done?</a:t>
            </a:r>
          </a:p>
        </p:txBody>
      </p:sp>
      <p:sp>
        <p:nvSpPr>
          <p:cNvPr id="12" name="text-31">
            <a:extLst xmlns:a="http://schemas.openxmlformats.org/drawingml/2006/main">
              <a:ext uri="{FF2B5EF4-FFF2-40B4-BE49-F238E27FC236}">
                <a16:creationId xmlns:a16="http://schemas.microsoft.com/office/drawing/2014/main" id="{6C4F16E8-7181-486B-AEE1-4C1FAD2F503D}"/>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Illustrative persona</a:t>
            </a:r>
          </a:p>
        </p:txBody>
      </p:sp>
      <p:sp>
        <p:nvSpPr>
          <p:cNvPr id="13" name="text-32">
            <a:extLst xmlns:a="http://schemas.openxmlformats.org/drawingml/2006/main">
              <a:ext uri="{FF2B5EF4-FFF2-40B4-BE49-F238E27FC236}">
                <a16:creationId xmlns:a16="http://schemas.microsoft.com/office/drawing/2014/main" id="{1E58E7B2-15E8-4A80-BF44-C956C296BB0E}"/>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04 / 14</a:t>
            </a:r>
          </a:p>
        </p:txBody>
      </p:sp>
    </p:spTree>
    <p:extLst>
      <p:ext uri="{BB962C8B-B14F-4D97-AF65-F5344CB8AC3E}">
        <p14:creationId xmlns:p14="http://schemas.microsoft.com/office/powerpoint/2010/main" val="19523754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33">
            <a:extLst xmlns:a="http://schemas.openxmlformats.org/drawingml/2006/main">
              <a:ext uri="{FF2B5EF4-FFF2-40B4-BE49-F238E27FC236}">
                <a16:creationId xmlns:a16="http://schemas.microsoft.com/office/drawing/2014/main" id="{2BB61B3C-9BA6-4565-B0CE-1E237709FF2B}"/>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Useful help before</a:t>
            </a:r>
          </a:p>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another data request</a:t>
            </a:r>
          </a:p>
        </p:txBody>
      </p:sp>
      <p:sp>
        <p:nvSpPr>
          <p:cNvPr id="2" name="text-34">
            <a:extLst xmlns:a="http://schemas.openxmlformats.org/drawingml/2006/main">
              <a:ext uri="{FF2B5EF4-FFF2-40B4-BE49-F238E27FC236}">
                <a16:creationId xmlns:a16="http://schemas.microsoft.com/office/drawing/2014/main" id="{51E67F9F-E952-4E01-AA74-BCF1EF75985C}"/>
              </a:ext>
            </a:extLst>
          </p:cNvPr>
          <p:cNvSpPr>
            <a:spLocks xmlns:a="http://schemas.openxmlformats.org/drawingml/2006/main" noGrp="1"/>
          </p:cNvSpPr>
          <p:nvPr/>
        </p:nvSpPr>
        <p:spPr>
          <a:xfrm xmlns:a="http://schemas.openxmlformats.org/drawingml/2006/main">
            <a:off x="704850" y="2286000"/>
            <a:ext cx="452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73B60"/>
                </a:solidFill>
                <a:latin typeface="Arial"/>
                <a:ea typeface="Arial"/>
                <a:cs typeface="Arial"/>
              </a:defRPr>
            </a:pPr>
            <a:r>
              <a:rPr sz="2325" b="1">
                <a:solidFill>
                  <a:srgbClr val="073B60"/>
                </a:solidFill>
                <a:latin typeface="Arial"/>
                <a:ea typeface="Arial"/>
                <a:cs typeface="Arial"/>
              </a:rPr>
              <a:t>Start with permitted data.</a:t>
            </a:r>
          </a:p>
        </p:txBody>
      </p:sp>
      <p:sp>
        <p:nvSpPr>
          <p:cNvPr id="3" name="text-35">
            <a:extLst xmlns:a="http://schemas.openxmlformats.org/drawingml/2006/main">
              <a:ext uri="{FF2B5EF4-FFF2-40B4-BE49-F238E27FC236}">
                <a16:creationId xmlns:a16="http://schemas.microsoft.com/office/drawing/2014/main" id="{840E928B-D83B-45D4-8756-80087007A985}"/>
              </a:ext>
            </a:extLst>
          </p:cNvPr>
          <p:cNvSpPr>
            <a:spLocks xmlns:a="http://schemas.openxmlformats.org/drawingml/2006/main" noGrp="1"/>
          </p:cNvSpPr>
          <p:nvPr/>
        </p:nvSpPr>
        <p:spPr>
          <a:xfrm xmlns:a="http://schemas.openxmlformats.org/drawingml/2006/main">
            <a:off x="704850" y="3171825"/>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73B60"/>
                </a:solidFill>
                <a:latin typeface="Arial"/>
                <a:ea typeface="Arial"/>
                <a:cs typeface="Arial"/>
              </a:defRPr>
            </a:pPr>
            <a:r>
              <a:rPr sz="2325" b="1">
                <a:solidFill>
                  <a:srgbClr val="073B60"/>
                </a:solidFill>
                <a:latin typeface="Arial"/>
                <a:ea typeface="Arial"/>
                <a:cs typeface="Arial"/>
              </a:rPr>
              <a:t>Ask when it helps</a:t>
            </a:r>
          </a:p>
          <a:p xmlns:a="http://schemas.openxmlformats.org/drawingml/2006/main">
            <a:pPr algn="l">
              <a:defRPr sz="2325" b="1">
                <a:solidFill>
                  <a:srgbClr val="073B60"/>
                </a:solidFill>
                <a:latin typeface="Arial"/>
                <a:ea typeface="Arial"/>
                <a:cs typeface="Arial"/>
              </a:defRPr>
            </a:pPr>
            <a:r>
              <a:rPr sz="2325" b="1">
                <a:solidFill>
                  <a:srgbClr val="073B60"/>
                </a:solidFill>
                <a:latin typeface="Arial"/>
                <a:ea typeface="Arial"/>
                <a:cs typeface="Arial"/>
              </a:rPr>
              <a:t>the next step.</a:t>
            </a:r>
          </a:p>
        </p:txBody>
      </p:sp>
      <p:sp>
        <p:nvSpPr>
          <p:cNvPr id="4" name="text-36">
            <a:extLst xmlns:a="http://schemas.openxmlformats.org/drawingml/2006/main">
              <a:ext uri="{FF2B5EF4-FFF2-40B4-BE49-F238E27FC236}">
                <a16:creationId xmlns:a16="http://schemas.microsoft.com/office/drawing/2014/main" id="{F8B5D2F8-2E91-4940-9600-6206C9AF4C82}"/>
              </a:ext>
            </a:extLst>
          </p:cNvPr>
          <p:cNvSpPr>
            <a:spLocks xmlns:a="http://schemas.openxmlformats.org/drawingml/2006/main" noGrp="1"/>
          </p:cNvSpPr>
          <p:nvPr/>
        </p:nvSpPr>
        <p:spPr>
          <a:xfrm xmlns:a="http://schemas.openxmlformats.org/drawingml/2006/main">
            <a:off x="704850" y="4391025"/>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9C8"/>
                </a:solidFill>
                <a:latin typeface="Arial"/>
                <a:ea typeface="Arial"/>
                <a:cs typeface="Arial"/>
              </a:defRPr>
            </a:pPr>
            <a:r>
              <a:rPr sz="2325" b="1">
                <a:solidFill>
                  <a:srgbClr val="0079C8"/>
                </a:solidFill>
                <a:latin typeface="Arial"/>
                <a:ea typeface="Arial"/>
                <a:cs typeface="Arial"/>
              </a:rPr>
              <a:t>Keep the choice visible</a:t>
            </a:r>
          </a:p>
          <a:p xmlns:a="http://schemas.openxmlformats.org/drawingml/2006/main">
            <a:pPr algn="l">
              <a:defRPr sz="2325" b="1">
                <a:solidFill>
                  <a:srgbClr val="0079C8"/>
                </a:solidFill>
                <a:latin typeface="Arial"/>
                <a:ea typeface="Arial"/>
                <a:cs typeface="Arial"/>
              </a:defRPr>
            </a:pPr>
            <a:r>
              <a:rPr sz="2325" b="1">
                <a:solidFill>
                  <a:srgbClr val="0079C8"/>
                </a:solidFill>
                <a:latin typeface="Arial"/>
                <a:ea typeface="Arial"/>
                <a:cs typeface="Arial"/>
              </a:rPr>
              <a:t>and reversible.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72f2b762afc42ad"/>
          <a:stretch xmlns:a="http://schemas.openxmlformats.org/drawingml/2006/main"/>
        </p:blipFill>
        <p:spPr>
          <a:xfrm xmlns:a="http://schemas.openxmlformats.org/drawingml/2006/main">
            <a:off x="5476875" y="2973795"/>
            <a:ext cx="6000750" cy="1986735"/>
          </a:xfrm>
          <a:prstGeom xmlns:a="http://schemas.openxmlformats.org/drawingml/2006/main" prst="rect">
            <a:avLst/>
          </a:prstGeom>
        </p:spPr>
      </p:pic>
      <p:sp>
        <p:nvSpPr>
          <p:cNvPr id="6" name="text-37">
            <a:extLst xmlns:a="http://schemas.openxmlformats.org/drawingml/2006/main">
              <a:ext uri="{FF2B5EF4-FFF2-40B4-BE49-F238E27FC236}">
                <a16:creationId xmlns:a16="http://schemas.microsoft.com/office/drawing/2014/main" id="{33E00F75-D60D-4051-8A07-29E725E4005C}"/>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Prototype permission controls. Fictional data.</a:t>
            </a:r>
          </a:p>
        </p:txBody>
      </p:sp>
      <p:sp>
        <p:nvSpPr>
          <p:cNvPr id="7" name="text-38">
            <a:extLst xmlns:a="http://schemas.openxmlformats.org/drawingml/2006/main">
              <a:ext uri="{FF2B5EF4-FFF2-40B4-BE49-F238E27FC236}">
                <a16:creationId xmlns:a16="http://schemas.microsoft.com/office/drawing/2014/main" id="{61B1E882-F67F-4A57-8B62-1B92CC3C6A19}"/>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05 / 14</a:t>
            </a:r>
          </a:p>
        </p:txBody>
      </p:sp>
    </p:spTree>
    <p:extLst>
      <p:ext uri="{BB962C8B-B14F-4D97-AF65-F5344CB8AC3E}">
        <p14:creationId xmlns:p14="http://schemas.microsoft.com/office/powerpoint/2010/main" val="11773889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39">
            <a:extLst xmlns:a="http://schemas.openxmlformats.org/drawingml/2006/main">
              <a:ext uri="{FF2B5EF4-FFF2-40B4-BE49-F238E27FC236}">
                <a16:creationId xmlns:a16="http://schemas.microsoft.com/office/drawing/2014/main" id="{C6E69948-79C1-43E5-819D-DB92A944F576}"/>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Connecting the care journey</a:t>
            </a:r>
          </a:p>
        </p:txBody>
      </p:sp>
      <p:sp>
        <p:nvSpPr>
          <p:cNvPr id="2" name="text-40">
            <a:extLst xmlns:a="http://schemas.openxmlformats.org/drawingml/2006/main">
              <a:ext uri="{FF2B5EF4-FFF2-40B4-BE49-F238E27FC236}">
                <a16:creationId xmlns:a16="http://schemas.microsoft.com/office/drawing/2014/main" id="{0A500A88-94BC-4033-96CF-33D107473FB1}"/>
              </a:ext>
            </a:extLst>
          </p:cNvPr>
          <p:cNvSpPr>
            <a:spLocks xmlns:a="http://schemas.openxmlformats.org/drawingml/2006/main" noGrp="1"/>
          </p:cNvSpPr>
          <p:nvPr/>
        </p:nvSpPr>
        <p:spPr>
          <a:xfrm xmlns:a="http://schemas.openxmlformats.org/drawingml/2006/main">
            <a:off x="704850" y="2190750"/>
            <a:ext cx="95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0079C8"/>
                </a:solidFill>
                <a:latin typeface="Arial"/>
                <a:ea typeface="Arial"/>
                <a:cs typeface="Arial"/>
              </a:defRPr>
            </a:pPr>
            <a:r>
              <a:rPr sz="3600" b="0">
                <a:solidFill>
                  <a:srgbClr val="0079C8"/>
                </a:solidFill>
                <a:latin typeface="Arial"/>
                <a:ea typeface="Arial"/>
                <a:cs typeface="Arial"/>
              </a:rPr>
              <a:t>01</a:t>
            </a:r>
          </a:p>
        </p:txBody>
      </p:sp>
      <p:sp>
        <p:nvSpPr>
          <p:cNvPr id="3" name="text-41">
            <a:extLst xmlns:a="http://schemas.openxmlformats.org/drawingml/2006/main">
              <a:ext uri="{FF2B5EF4-FFF2-40B4-BE49-F238E27FC236}">
                <a16:creationId xmlns:a16="http://schemas.microsoft.com/office/drawing/2014/main" id="{A9F7179C-4BA9-4705-8C6E-C6940C7C460D}"/>
              </a:ext>
            </a:extLst>
          </p:cNvPr>
          <p:cNvSpPr>
            <a:spLocks xmlns:a="http://schemas.openxmlformats.org/drawingml/2006/main" noGrp="1"/>
          </p:cNvSpPr>
          <p:nvPr/>
        </p:nvSpPr>
        <p:spPr>
          <a:xfrm xmlns:a="http://schemas.openxmlformats.org/drawingml/2006/main">
            <a:off x="704850" y="3076575"/>
            <a:ext cx="33051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073B60"/>
                </a:solidFill>
                <a:latin typeface="Arial"/>
                <a:ea typeface="Arial"/>
                <a:cs typeface="Arial"/>
              </a:defRPr>
            </a:pPr>
            <a:r>
              <a:rPr sz="3075" b="1">
                <a:solidFill>
                  <a:srgbClr val="073B60"/>
                </a:solidFill>
                <a:latin typeface="Arial"/>
                <a:ea typeface="Arial"/>
                <a:cs typeface="Arial"/>
              </a:rPr>
              <a:t>Cover</a:t>
            </a:r>
          </a:p>
          <a:p xmlns:a="http://schemas.openxmlformats.org/drawingml/2006/main">
            <a:pPr algn="l">
              <a:defRPr sz="3075" b="1">
                <a:solidFill>
                  <a:srgbClr val="073B60"/>
                </a:solidFill>
                <a:latin typeface="Arial"/>
                <a:ea typeface="Arial"/>
                <a:cs typeface="Arial"/>
              </a:defRPr>
            </a:pPr>
            <a:r>
              <a:rPr sz="3075" b="1">
                <a:solidFill>
                  <a:srgbClr val="073B60"/>
                </a:solidFill>
                <a:latin typeface="Arial"/>
                <a:ea typeface="Arial"/>
                <a:cs typeface="Arial"/>
              </a:rPr>
              <a:t>information</a:t>
            </a:r>
          </a:p>
        </p:txBody>
      </p:sp>
      <p:sp>
        <p:nvSpPr>
          <p:cNvPr id="4" name="text-42">
            <a:extLst xmlns:a="http://schemas.openxmlformats.org/drawingml/2006/main">
              <a:ext uri="{FF2B5EF4-FFF2-40B4-BE49-F238E27FC236}">
                <a16:creationId xmlns:a16="http://schemas.microsoft.com/office/drawing/2014/main" id="{77901361-C773-47AE-B2E0-D8AF495E83FE}"/>
              </a:ext>
            </a:extLst>
          </p:cNvPr>
          <p:cNvSpPr>
            <a:spLocks xmlns:a="http://schemas.openxmlformats.org/drawingml/2006/main" noGrp="1"/>
          </p:cNvSpPr>
          <p:nvPr/>
        </p:nvSpPr>
        <p:spPr>
          <a:xfrm xmlns:a="http://schemas.openxmlformats.org/drawingml/2006/main">
            <a:off x="704850" y="4686300"/>
            <a:ext cx="3305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Understand policy benefits</a:t>
            </a:r>
          </a:p>
        </p:txBody>
      </p:sp>
      <p:sp>
        <p:nvSpPr>
          <p:cNvPr id="5" name="text-43">
            <a:extLst xmlns:a="http://schemas.openxmlformats.org/drawingml/2006/main">
              <a:ext uri="{FF2B5EF4-FFF2-40B4-BE49-F238E27FC236}">
                <a16:creationId xmlns:a16="http://schemas.microsoft.com/office/drawing/2014/main" id="{20FCFE6D-8712-477A-8277-418853F917FB}"/>
              </a:ext>
            </a:extLst>
          </p:cNvPr>
          <p:cNvSpPr>
            <a:spLocks xmlns:a="http://schemas.openxmlformats.org/drawingml/2006/main" noGrp="1"/>
          </p:cNvSpPr>
          <p:nvPr/>
        </p:nvSpPr>
        <p:spPr>
          <a:xfrm xmlns:a="http://schemas.openxmlformats.org/drawingml/2006/main">
            <a:off x="4448175" y="2190750"/>
            <a:ext cx="95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0079C8"/>
                </a:solidFill>
                <a:latin typeface="Arial"/>
                <a:ea typeface="Arial"/>
                <a:cs typeface="Arial"/>
              </a:defRPr>
            </a:pPr>
            <a:r>
              <a:rPr sz="3600" b="0">
                <a:solidFill>
                  <a:srgbClr val="0079C8"/>
                </a:solidFill>
                <a:latin typeface="Arial"/>
                <a:ea typeface="Arial"/>
                <a:cs typeface="Arial"/>
              </a:rPr>
              <a:t>02</a:t>
            </a:r>
          </a:p>
        </p:txBody>
      </p:sp>
      <p:sp>
        <p:nvSpPr>
          <p:cNvPr id="6" name="text-44">
            <a:extLst xmlns:a="http://schemas.openxmlformats.org/drawingml/2006/main">
              <a:ext uri="{FF2B5EF4-FFF2-40B4-BE49-F238E27FC236}">
                <a16:creationId xmlns:a16="http://schemas.microsoft.com/office/drawing/2014/main" id="{21BF6F50-55EE-40A2-A42B-E185DFF207F2}"/>
              </a:ext>
            </a:extLst>
          </p:cNvPr>
          <p:cNvSpPr>
            <a:spLocks xmlns:a="http://schemas.openxmlformats.org/drawingml/2006/main" noGrp="1"/>
          </p:cNvSpPr>
          <p:nvPr/>
        </p:nvSpPr>
        <p:spPr>
          <a:xfrm xmlns:a="http://schemas.openxmlformats.org/drawingml/2006/main">
            <a:off x="4448175" y="3076575"/>
            <a:ext cx="33051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073B60"/>
                </a:solidFill>
                <a:latin typeface="Arial"/>
                <a:ea typeface="Arial"/>
                <a:cs typeface="Arial"/>
              </a:defRPr>
            </a:pPr>
            <a:r>
              <a:rPr sz="3075" b="1">
                <a:solidFill>
                  <a:srgbClr val="073B60"/>
                </a:solidFill>
                <a:latin typeface="Arial"/>
                <a:ea typeface="Arial"/>
                <a:cs typeface="Arial"/>
              </a:rPr>
              <a:t>Provider</a:t>
            </a:r>
          </a:p>
          <a:p xmlns:a="http://schemas.openxmlformats.org/drawingml/2006/main">
            <a:pPr algn="l">
              <a:defRPr sz="3075" b="1">
                <a:solidFill>
                  <a:srgbClr val="073B60"/>
                </a:solidFill>
                <a:latin typeface="Arial"/>
                <a:ea typeface="Arial"/>
                <a:cs typeface="Arial"/>
              </a:defRPr>
            </a:pPr>
            <a:r>
              <a:rPr sz="3075" b="1">
                <a:solidFill>
                  <a:srgbClr val="073B60"/>
                </a:solidFill>
                <a:latin typeface="Arial"/>
                <a:ea typeface="Arial"/>
                <a:cs typeface="Arial"/>
              </a:rPr>
              <a:t>search</a:t>
            </a:r>
          </a:p>
        </p:txBody>
      </p:sp>
      <p:sp>
        <p:nvSpPr>
          <p:cNvPr id="7" name="text-45">
            <a:extLst xmlns:a="http://schemas.openxmlformats.org/drawingml/2006/main">
              <a:ext uri="{FF2B5EF4-FFF2-40B4-BE49-F238E27FC236}">
                <a16:creationId xmlns:a16="http://schemas.microsoft.com/office/drawing/2014/main" id="{5AC1A2AD-BAF4-4F4A-BCDF-290FC3DDDA0E}"/>
              </a:ext>
            </a:extLst>
          </p:cNvPr>
          <p:cNvSpPr>
            <a:spLocks xmlns:a="http://schemas.openxmlformats.org/drawingml/2006/main" noGrp="1"/>
          </p:cNvSpPr>
          <p:nvPr/>
        </p:nvSpPr>
        <p:spPr>
          <a:xfrm xmlns:a="http://schemas.openxmlformats.org/drawingml/2006/main">
            <a:off x="4448175" y="4686300"/>
            <a:ext cx="3305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Find relevant services</a:t>
            </a:r>
          </a:p>
        </p:txBody>
      </p:sp>
      <p:sp>
        <p:nvSpPr>
          <p:cNvPr id="8" name="text-46">
            <a:extLst xmlns:a="http://schemas.openxmlformats.org/drawingml/2006/main">
              <a:ext uri="{FF2B5EF4-FFF2-40B4-BE49-F238E27FC236}">
                <a16:creationId xmlns:a16="http://schemas.microsoft.com/office/drawing/2014/main" id="{1245D0F8-C30A-4548-856E-A8652106EFDF}"/>
              </a:ext>
            </a:extLst>
          </p:cNvPr>
          <p:cNvSpPr>
            <a:spLocks xmlns:a="http://schemas.openxmlformats.org/drawingml/2006/main" noGrp="1"/>
          </p:cNvSpPr>
          <p:nvPr/>
        </p:nvSpPr>
        <p:spPr>
          <a:xfrm xmlns:a="http://schemas.openxmlformats.org/drawingml/2006/main">
            <a:off x="8191500" y="2190750"/>
            <a:ext cx="95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0079C8"/>
                </a:solidFill>
                <a:latin typeface="Arial"/>
                <a:ea typeface="Arial"/>
                <a:cs typeface="Arial"/>
              </a:defRPr>
            </a:pPr>
            <a:r>
              <a:rPr sz="3600" b="0">
                <a:solidFill>
                  <a:srgbClr val="0079C8"/>
                </a:solidFill>
                <a:latin typeface="Arial"/>
                <a:ea typeface="Arial"/>
                <a:cs typeface="Arial"/>
              </a:rPr>
              <a:t>03</a:t>
            </a:r>
          </a:p>
        </p:txBody>
      </p:sp>
      <p:sp>
        <p:nvSpPr>
          <p:cNvPr id="9" name="text-47">
            <a:extLst xmlns:a="http://schemas.openxmlformats.org/drawingml/2006/main">
              <a:ext uri="{FF2B5EF4-FFF2-40B4-BE49-F238E27FC236}">
                <a16:creationId xmlns:a16="http://schemas.microsoft.com/office/drawing/2014/main" id="{83126332-AF0A-4DAE-8159-B3ADD6402378}"/>
              </a:ext>
            </a:extLst>
          </p:cNvPr>
          <p:cNvSpPr>
            <a:spLocks xmlns:a="http://schemas.openxmlformats.org/drawingml/2006/main" noGrp="1"/>
          </p:cNvSpPr>
          <p:nvPr/>
        </p:nvSpPr>
        <p:spPr>
          <a:xfrm xmlns:a="http://schemas.openxmlformats.org/drawingml/2006/main">
            <a:off x="8191500" y="3076575"/>
            <a:ext cx="33051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073B60"/>
                </a:solidFill>
                <a:latin typeface="Arial"/>
                <a:ea typeface="Arial"/>
                <a:cs typeface="Arial"/>
              </a:defRPr>
            </a:pPr>
            <a:r>
              <a:rPr sz="3075" b="1">
                <a:solidFill>
                  <a:srgbClr val="073B60"/>
                </a:solidFill>
                <a:latin typeface="Arial"/>
                <a:ea typeface="Arial"/>
                <a:cs typeface="Arial"/>
              </a:rPr>
              <a:t>Booking</a:t>
            </a:r>
          </a:p>
          <a:p xmlns:a="http://schemas.openxmlformats.org/drawingml/2006/main">
            <a:pPr algn="l">
              <a:defRPr sz="3075" b="1">
                <a:solidFill>
                  <a:srgbClr val="073B60"/>
                </a:solidFill>
                <a:latin typeface="Arial"/>
                <a:ea typeface="Arial"/>
                <a:cs typeface="Arial"/>
              </a:defRPr>
            </a:pPr>
            <a:r>
              <a:rPr sz="3075" b="1">
                <a:solidFill>
                  <a:srgbClr val="073B60"/>
                </a:solidFill>
                <a:latin typeface="Arial"/>
                <a:ea typeface="Arial"/>
                <a:cs typeface="Arial"/>
              </a:rPr>
              <a:t>pathways</a:t>
            </a:r>
          </a:p>
        </p:txBody>
      </p:sp>
      <p:sp>
        <p:nvSpPr>
          <p:cNvPr id="10" name="text-48">
            <a:extLst xmlns:a="http://schemas.openxmlformats.org/drawingml/2006/main">
              <a:ext uri="{FF2B5EF4-FFF2-40B4-BE49-F238E27FC236}">
                <a16:creationId xmlns:a16="http://schemas.microsoft.com/office/drawing/2014/main" id="{71DF2B6C-4D79-41D1-9179-FF362EA737F0}"/>
              </a:ext>
            </a:extLst>
          </p:cNvPr>
          <p:cNvSpPr>
            <a:spLocks xmlns:a="http://schemas.openxmlformats.org/drawingml/2006/main" noGrp="1"/>
          </p:cNvSpPr>
          <p:nvPr/>
        </p:nvSpPr>
        <p:spPr>
          <a:xfrm xmlns:a="http://schemas.openxmlformats.org/drawingml/2006/main">
            <a:off x="8191500" y="4686300"/>
            <a:ext cx="3305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Take the next step</a:t>
            </a:r>
          </a:p>
        </p:txBody>
      </p:sp>
      <p:sp>
        <p:nvSpPr>
          <p:cNvPr id="11" name="text-49">
            <a:extLst xmlns:a="http://schemas.openxmlformats.org/drawingml/2006/main">
              <a:ext uri="{FF2B5EF4-FFF2-40B4-BE49-F238E27FC236}">
                <a16:creationId xmlns:a16="http://schemas.microsoft.com/office/drawing/2014/main" id="{97EF59EA-B2A0-40A7-873E-11033404476B}"/>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Illustrative service map. Existing capabilities and integration boundaries to confirm.</a:t>
            </a:r>
          </a:p>
        </p:txBody>
      </p:sp>
      <p:sp>
        <p:nvSpPr>
          <p:cNvPr id="12" name="text-50">
            <a:extLst xmlns:a="http://schemas.openxmlformats.org/drawingml/2006/main">
              <a:ext uri="{FF2B5EF4-FFF2-40B4-BE49-F238E27FC236}">
                <a16:creationId xmlns:a16="http://schemas.microsoft.com/office/drawing/2014/main" id="{82335509-98C9-465D-A4FE-01136194362D}"/>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06 / 14</a:t>
            </a:r>
          </a:p>
        </p:txBody>
      </p:sp>
    </p:spTree>
    <p:extLst>
      <p:ext uri="{BB962C8B-B14F-4D97-AF65-F5344CB8AC3E}">
        <p14:creationId xmlns:p14="http://schemas.microsoft.com/office/powerpoint/2010/main" val="12744601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51">
            <a:extLst xmlns:a="http://schemas.openxmlformats.org/drawingml/2006/main">
              <a:ext uri="{FF2B5EF4-FFF2-40B4-BE49-F238E27FC236}">
                <a16:creationId xmlns:a16="http://schemas.microsoft.com/office/drawing/2014/main" id="{1F84C257-F8BA-4A18-930F-6D356AC71809}"/>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Lin has to connect the steps</a:t>
            </a:r>
          </a:p>
        </p:txBody>
      </p:sp>
      <p:sp>
        <p:nvSpPr>
          <p:cNvPr id="2" name="text-52">
            <a:extLst xmlns:a="http://schemas.openxmlformats.org/drawingml/2006/main">
              <a:ext uri="{FF2B5EF4-FFF2-40B4-BE49-F238E27FC236}">
                <a16:creationId xmlns:a16="http://schemas.microsoft.com/office/drawing/2014/main" id="{F8982AEC-993D-46ED-B261-58B64959DA04}"/>
              </a:ext>
            </a:extLst>
          </p:cNvPr>
          <p:cNvSpPr>
            <a:spLocks xmlns:a="http://schemas.openxmlformats.org/drawingml/2006/main" noGrp="1"/>
          </p:cNvSpPr>
          <p:nvPr/>
        </p:nvSpPr>
        <p:spPr>
          <a:xfrm xmlns:a="http://schemas.openxmlformats.org/drawingml/2006/main">
            <a:off x="752475" y="220980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79C8"/>
                </a:solidFill>
                <a:latin typeface="Arial"/>
                <a:ea typeface="Arial"/>
                <a:cs typeface="Arial"/>
              </a:defRPr>
            </a:pPr>
            <a:r>
              <a:rPr sz="2700" b="0">
                <a:solidFill>
                  <a:srgbClr val="0079C8"/>
                </a:solidFill>
                <a:latin typeface="Arial"/>
                <a:ea typeface="Arial"/>
                <a:cs typeface="Arial"/>
              </a:rPr>
              <a:t>01</a:t>
            </a:r>
          </a:p>
        </p:txBody>
      </p:sp>
      <p:sp>
        <p:nvSpPr>
          <p:cNvPr id="3" name="text-53">
            <a:extLst xmlns:a="http://schemas.openxmlformats.org/drawingml/2006/main">
              <a:ext uri="{FF2B5EF4-FFF2-40B4-BE49-F238E27FC236}">
                <a16:creationId xmlns:a16="http://schemas.microsoft.com/office/drawing/2014/main" id="{D4F4A259-2238-49E3-BCF2-443427F519E8}"/>
              </a:ext>
            </a:extLst>
          </p:cNvPr>
          <p:cNvSpPr>
            <a:spLocks xmlns:a="http://schemas.openxmlformats.org/drawingml/2006/main" noGrp="1"/>
          </p:cNvSpPr>
          <p:nvPr/>
        </p:nvSpPr>
        <p:spPr>
          <a:xfrm xmlns:a="http://schemas.openxmlformats.org/drawingml/2006/main">
            <a:off x="1771650" y="2181225"/>
            <a:ext cx="9906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073B60"/>
                </a:solidFill>
                <a:latin typeface="Arial"/>
                <a:ea typeface="Arial"/>
                <a:cs typeface="Arial"/>
              </a:defRPr>
            </a:pPr>
            <a:r>
              <a:rPr sz="3225" b="0">
                <a:solidFill>
                  <a:srgbClr val="073B60"/>
                </a:solidFill>
                <a:latin typeface="Arial"/>
                <a:ea typeface="Arial"/>
                <a:cs typeface="Arial"/>
              </a:rPr>
              <a:t>Get an answer</a:t>
            </a:r>
          </a:p>
        </p:txBody>
      </p:sp>
      <p:sp>
        <p:nvSpPr>
          <p:cNvPr id="4" name="text-54">
            <a:extLst xmlns:a="http://schemas.openxmlformats.org/drawingml/2006/main">
              <a:ext uri="{FF2B5EF4-FFF2-40B4-BE49-F238E27FC236}">
                <a16:creationId xmlns:a16="http://schemas.microsoft.com/office/drawing/2014/main" id="{7AEAD7C5-B940-4FE4-8572-DB70899F9D03}"/>
              </a:ext>
            </a:extLst>
          </p:cNvPr>
          <p:cNvSpPr>
            <a:spLocks xmlns:a="http://schemas.openxmlformats.org/drawingml/2006/main" noGrp="1"/>
          </p:cNvSpPr>
          <p:nvPr/>
        </p:nvSpPr>
        <p:spPr>
          <a:xfrm xmlns:a="http://schemas.openxmlformats.org/drawingml/2006/main">
            <a:off x="752475" y="321945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79C8"/>
                </a:solidFill>
                <a:latin typeface="Arial"/>
                <a:ea typeface="Arial"/>
                <a:cs typeface="Arial"/>
              </a:defRPr>
            </a:pPr>
            <a:r>
              <a:rPr sz="2700" b="0">
                <a:solidFill>
                  <a:srgbClr val="0079C8"/>
                </a:solidFill>
                <a:latin typeface="Arial"/>
                <a:ea typeface="Arial"/>
                <a:cs typeface="Arial"/>
              </a:rPr>
              <a:t>02</a:t>
            </a:r>
          </a:p>
        </p:txBody>
      </p:sp>
      <p:sp>
        <p:nvSpPr>
          <p:cNvPr id="5" name="text-55">
            <a:extLst xmlns:a="http://schemas.openxmlformats.org/drawingml/2006/main">
              <a:ext uri="{FF2B5EF4-FFF2-40B4-BE49-F238E27FC236}">
                <a16:creationId xmlns:a16="http://schemas.microsoft.com/office/drawing/2014/main" id="{1B6FAD8B-251C-4D26-A282-99471822F9A4}"/>
              </a:ext>
            </a:extLst>
          </p:cNvPr>
          <p:cNvSpPr>
            <a:spLocks xmlns:a="http://schemas.openxmlformats.org/drawingml/2006/main" noGrp="1"/>
          </p:cNvSpPr>
          <p:nvPr/>
        </p:nvSpPr>
        <p:spPr>
          <a:xfrm xmlns:a="http://schemas.openxmlformats.org/drawingml/2006/main">
            <a:off x="1771650" y="3190875"/>
            <a:ext cx="9906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073B60"/>
                </a:solidFill>
                <a:latin typeface="Arial"/>
                <a:ea typeface="Arial"/>
                <a:cs typeface="Arial"/>
              </a:defRPr>
            </a:pPr>
            <a:r>
              <a:rPr sz="3225" b="0">
                <a:solidFill>
                  <a:srgbClr val="073B60"/>
                </a:solidFill>
                <a:latin typeface="Arial"/>
                <a:ea typeface="Arial"/>
                <a:cs typeface="Arial"/>
              </a:rPr>
              <a:t>Find another screen</a:t>
            </a:r>
          </a:p>
        </p:txBody>
      </p:sp>
      <p:sp>
        <p:nvSpPr>
          <p:cNvPr id="6" name="text-56">
            <a:extLst xmlns:a="http://schemas.openxmlformats.org/drawingml/2006/main">
              <a:ext uri="{FF2B5EF4-FFF2-40B4-BE49-F238E27FC236}">
                <a16:creationId xmlns:a16="http://schemas.microsoft.com/office/drawing/2014/main" id="{3131413C-7C12-4EC0-AB70-95EFDDA27398}"/>
              </a:ext>
            </a:extLst>
          </p:cNvPr>
          <p:cNvSpPr>
            <a:spLocks xmlns:a="http://schemas.openxmlformats.org/drawingml/2006/main" noGrp="1"/>
          </p:cNvSpPr>
          <p:nvPr/>
        </p:nvSpPr>
        <p:spPr>
          <a:xfrm xmlns:a="http://schemas.openxmlformats.org/drawingml/2006/main">
            <a:off x="752475" y="4229100"/>
            <a:ext cx="733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0079C8"/>
                </a:solidFill>
                <a:latin typeface="Arial"/>
                <a:ea typeface="Arial"/>
                <a:cs typeface="Arial"/>
              </a:defRPr>
            </a:pPr>
            <a:r>
              <a:rPr sz="2700" b="0">
                <a:solidFill>
                  <a:srgbClr val="0079C8"/>
                </a:solidFill>
                <a:latin typeface="Arial"/>
                <a:ea typeface="Arial"/>
                <a:cs typeface="Arial"/>
              </a:rPr>
              <a:t>03</a:t>
            </a:r>
          </a:p>
        </p:txBody>
      </p:sp>
      <p:sp>
        <p:nvSpPr>
          <p:cNvPr id="7" name="text-57">
            <a:extLst xmlns:a="http://schemas.openxmlformats.org/drawingml/2006/main">
              <a:ext uri="{FF2B5EF4-FFF2-40B4-BE49-F238E27FC236}">
                <a16:creationId xmlns:a16="http://schemas.microsoft.com/office/drawing/2014/main" id="{E8E8E9A0-6225-4D49-8795-4D458B783333}"/>
              </a:ext>
            </a:extLst>
          </p:cNvPr>
          <p:cNvSpPr>
            <a:spLocks xmlns:a="http://schemas.openxmlformats.org/drawingml/2006/main" noGrp="1"/>
          </p:cNvSpPr>
          <p:nvPr/>
        </p:nvSpPr>
        <p:spPr>
          <a:xfrm xmlns:a="http://schemas.openxmlformats.org/drawingml/2006/main">
            <a:off x="1771650" y="4200525"/>
            <a:ext cx="9906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73B60"/>
                </a:solidFill>
                <a:latin typeface="Arial"/>
                <a:ea typeface="Arial"/>
                <a:cs typeface="Arial"/>
              </a:defRPr>
            </a:pPr>
            <a:r>
              <a:rPr sz="3225" b="1">
                <a:solidFill>
                  <a:srgbClr val="073B60"/>
                </a:solidFill>
                <a:latin typeface="Arial"/>
                <a:ea typeface="Arial"/>
                <a:cs typeface="Arial"/>
              </a:rPr>
              <a:t>Enter the details again</a:t>
            </a:r>
          </a:p>
        </p:txBody>
      </p:sp>
      <p:sp>
        <p:nvSpPr>
          <p:cNvPr id="8" name="text-58">
            <a:extLst xmlns:a="http://schemas.openxmlformats.org/drawingml/2006/main">
              <a:ext uri="{FF2B5EF4-FFF2-40B4-BE49-F238E27FC236}">
                <a16:creationId xmlns:a16="http://schemas.microsoft.com/office/drawing/2014/main" id="{2A525721-A1E2-4FE8-95B8-86D5CB3BF4ED}"/>
              </a:ext>
            </a:extLst>
          </p:cNvPr>
          <p:cNvSpPr>
            <a:spLocks xmlns:a="http://schemas.openxmlformats.org/drawingml/2006/main" noGrp="1"/>
          </p:cNvSpPr>
          <p:nvPr/>
        </p:nvSpPr>
        <p:spPr>
          <a:xfrm xmlns:a="http://schemas.openxmlformats.org/drawingml/2006/main">
            <a:off x="742950" y="55530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79C8"/>
                </a:solidFill>
                <a:latin typeface="Arial"/>
                <a:ea typeface="Arial"/>
                <a:cs typeface="Arial"/>
              </a:defRPr>
            </a:pPr>
            <a:r>
              <a:rPr sz="2025" b="1">
                <a:solidFill>
                  <a:srgbClr val="0079C8"/>
                </a:solidFill>
                <a:latin typeface="Arial"/>
                <a:ea typeface="Arial"/>
                <a:cs typeface="Arial"/>
              </a:rPr>
              <a:t>Carry her authorised context into the next step.</a:t>
            </a:r>
          </a:p>
        </p:txBody>
      </p:sp>
      <p:sp>
        <p:nvSpPr>
          <p:cNvPr id="9" name="text-59">
            <a:extLst xmlns:a="http://schemas.openxmlformats.org/drawingml/2006/main">
              <a:ext uri="{FF2B5EF4-FFF2-40B4-BE49-F238E27FC236}">
                <a16:creationId xmlns:a16="http://schemas.microsoft.com/office/drawing/2014/main" id="{C65098F7-7AFA-4885-B707-AAE4E8FA25E7}"/>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Journey hypothesis to validate with members</a:t>
            </a:r>
          </a:p>
        </p:txBody>
      </p:sp>
      <p:sp>
        <p:nvSpPr>
          <p:cNvPr id="10" name="text-60">
            <a:extLst xmlns:a="http://schemas.openxmlformats.org/drawingml/2006/main">
              <a:ext uri="{FF2B5EF4-FFF2-40B4-BE49-F238E27FC236}">
                <a16:creationId xmlns:a16="http://schemas.microsoft.com/office/drawing/2014/main" id="{5166B441-7CE7-443D-A1A8-5D14049D598D}"/>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07 / 14</a:t>
            </a:r>
          </a:p>
        </p:txBody>
      </p:sp>
    </p:spTree>
    <p:extLst>
      <p:ext uri="{BB962C8B-B14F-4D97-AF65-F5344CB8AC3E}">
        <p14:creationId xmlns:p14="http://schemas.microsoft.com/office/powerpoint/2010/main" val="10538092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61">
            <a:extLst xmlns:a="http://schemas.openxmlformats.org/drawingml/2006/main">
              <a:ext uri="{FF2B5EF4-FFF2-40B4-BE49-F238E27FC236}">
                <a16:creationId xmlns:a16="http://schemas.microsoft.com/office/drawing/2014/main" id="{3DC6FCBB-2312-4431-A8C0-3021D8B13038}"/>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One request, a connected journey</a:t>
            </a:r>
          </a:p>
        </p:txBody>
      </p:sp>
      <p:sp>
        <p:nvSpPr>
          <p:cNvPr id="2" name="text-62">
            <a:extLst xmlns:a="http://schemas.openxmlformats.org/drawingml/2006/main">
              <a:ext uri="{FF2B5EF4-FFF2-40B4-BE49-F238E27FC236}">
                <a16:creationId xmlns:a16="http://schemas.microsoft.com/office/drawing/2014/main" id="{3F18306C-B29A-485E-A0CB-7C5F69899BC4}"/>
              </a:ext>
            </a:extLst>
          </p:cNvPr>
          <p:cNvSpPr>
            <a:spLocks xmlns:a="http://schemas.openxmlformats.org/drawingml/2006/main" noGrp="1"/>
          </p:cNvSpPr>
          <p:nvPr/>
        </p:nvSpPr>
        <p:spPr>
          <a:xfrm xmlns:a="http://schemas.openxmlformats.org/drawingml/2006/main">
            <a:off x="695325" y="2152650"/>
            <a:ext cx="3095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9C8"/>
                </a:solidFill>
                <a:latin typeface="Arial"/>
                <a:ea typeface="Arial"/>
                <a:cs typeface="Arial"/>
              </a:defRPr>
            </a:pPr>
            <a:r>
              <a:rPr sz="2250" b="1">
                <a:solidFill>
                  <a:srgbClr val="0079C8"/>
                </a:solidFill>
                <a:latin typeface="Arial"/>
                <a:ea typeface="Arial"/>
                <a:cs typeface="Arial"/>
              </a:rPr>
              <a:t>AI Agent</a:t>
            </a:r>
          </a:p>
        </p:txBody>
      </p:sp>
      <p:sp>
        <p:nvSpPr>
          <p:cNvPr id="3" name="text-63">
            <a:extLst xmlns:a="http://schemas.openxmlformats.org/drawingml/2006/main">
              <a:ext uri="{FF2B5EF4-FFF2-40B4-BE49-F238E27FC236}">
                <a16:creationId xmlns:a16="http://schemas.microsoft.com/office/drawing/2014/main" id="{1ACF90A5-8C29-4AA7-B9C3-0B5546C5FF66}"/>
              </a:ext>
            </a:extLst>
          </p:cNvPr>
          <p:cNvSpPr>
            <a:spLocks xmlns:a="http://schemas.openxmlformats.org/drawingml/2006/main" noGrp="1"/>
          </p:cNvSpPr>
          <p:nvPr/>
        </p:nvSpPr>
        <p:spPr>
          <a:xfrm xmlns:a="http://schemas.openxmlformats.org/drawingml/2006/main">
            <a:off x="704850" y="2600325"/>
            <a:ext cx="3095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Explain and prepare</a:t>
            </a:r>
          </a:p>
        </p:txBody>
      </p:sp>
      <p:sp>
        <p:nvSpPr>
          <p:cNvPr id="4" name="text-64">
            <a:extLst xmlns:a="http://schemas.openxmlformats.org/drawingml/2006/main">
              <a:ext uri="{FF2B5EF4-FFF2-40B4-BE49-F238E27FC236}">
                <a16:creationId xmlns:a16="http://schemas.microsoft.com/office/drawing/2014/main" id="{A602B6E6-2501-48BF-B0C1-4F1AF479CCA4}"/>
              </a:ext>
            </a:extLst>
          </p:cNvPr>
          <p:cNvSpPr>
            <a:spLocks xmlns:a="http://schemas.openxmlformats.org/drawingml/2006/main" noGrp="1"/>
          </p:cNvSpPr>
          <p:nvPr/>
        </p:nvSpPr>
        <p:spPr>
          <a:xfrm xmlns:a="http://schemas.openxmlformats.org/drawingml/2006/main">
            <a:off x="695325" y="3448050"/>
            <a:ext cx="3095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9C8"/>
                </a:solidFill>
                <a:latin typeface="Arial"/>
                <a:ea typeface="Arial"/>
                <a:cs typeface="Arial"/>
              </a:defRPr>
            </a:pPr>
            <a:r>
              <a:rPr sz="2250" b="1">
                <a:solidFill>
                  <a:srgbClr val="0079C8"/>
                </a:solidFill>
                <a:latin typeface="Arial"/>
                <a:ea typeface="Arial"/>
                <a:cs typeface="Arial"/>
              </a:rPr>
              <a:t>Profile</a:t>
            </a:r>
          </a:p>
        </p:txBody>
      </p:sp>
      <p:sp>
        <p:nvSpPr>
          <p:cNvPr id="5" name="text-65">
            <a:extLst xmlns:a="http://schemas.openxmlformats.org/drawingml/2006/main">
              <a:ext uri="{FF2B5EF4-FFF2-40B4-BE49-F238E27FC236}">
                <a16:creationId xmlns:a16="http://schemas.microsoft.com/office/drawing/2014/main" id="{F699411C-3B03-43FD-812A-E00E11ACF978}"/>
              </a:ext>
            </a:extLst>
          </p:cNvPr>
          <p:cNvSpPr>
            <a:spLocks xmlns:a="http://schemas.openxmlformats.org/drawingml/2006/main" noGrp="1"/>
          </p:cNvSpPr>
          <p:nvPr/>
        </p:nvSpPr>
        <p:spPr>
          <a:xfrm xmlns:a="http://schemas.openxmlformats.org/drawingml/2006/main">
            <a:off x="704850" y="3895725"/>
            <a:ext cx="3095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Control permitted data use</a:t>
            </a:r>
          </a:p>
        </p:txBody>
      </p:sp>
      <p:sp>
        <p:nvSpPr>
          <p:cNvPr id="6" name="text-66">
            <a:extLst xmlns:a="http://schemas.openxmlformats.org/drawingml/2006/main">
              <a:ext uri="{FF2B5EF4-FFF2-40B4-BE49-F238E27FC236}">
                <a16:creationId xmlns:a16="http://schemas.microsoft.com/office/drawing/2014/main" id="{21298F05-4CAF-47CB-8F29-96E21DCB9B51}"/>
              </a:ext>
            </a:extLst>
          </p:cNvPr>
          <p:cNvSpPr>
            <a:spLocks xmlns:a="http://schemas.openxmlformats.org/drawingml/2006/main" noGrp="1"/>
          </p:cNvSpPr>
          <p:nvPr/>
        </p:nvSpPr>
        <p:spPr>
          <a:xfrm xmlns:a="http://schemas.openxmlformats.org/drawingml/2006/main">
            <a:off x="695325" y="4743450"/>
            <a:ext cx="3095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9C8"/>
                </a:solidFill>
                <a:latin typeface="Arial"/>
                <a:ea typeface="Arial"/>
                <a:cs typeface="Arial"/>
              </a:defRPr>
            </a:pPr>
            <a:r>
              <a:rPr sz="2250" b="1">
                <a:solidFill>
                  <a:srgbClr val="0079C8"/>
                </a:solidFill>
                <a:latin typeface="Arial"/>
                <a:ea typeface="Arial"/>
                <a:cs typeface="Arial"/>
              </a:rPr>
              <a:t>Dashboard</a:t>
            </a:r>
          </a:p>
        </p:txBody>
      </p:sp>
      <p:sp>
        <p:nvSpPr>
          <p:cNvPr id="7" name="text-67">
            <a:extLst xmlns:a="http://schemas.openxmlformats.org/drawingml/2006/main">
              <a:ext uri="{FF2B5EF4-FFF2-40B4-BE49-F238E27FC236}">
                <a16:creationId xmlns:a16="http://schemas.microsoft.com/office/drawing/2014/main" id="{29A74F49-E21A-41B7-9E88-39624BF4C9A7}"/>
              </a:ext>
            </a:extLst>
          </p:cNvPr>
          <p:cNvSpPr>
            <a:spLocks xmlns:a="http://schemas.openxmlformats.org/drawingml/2006/main" noGrp="1"/>
          </p:cNvSpPr>
          <p:nvPr/>
        </p:nvSpPr>
        <p:spPr>
          <a:xfrm xmlns:a="http://schemas.openxmlformats.org/drawingml/2006/main">
            <a:off x="704850" y="5191125"/>
            <a:ext cx="3095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Keep the result together</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3290429cbc84b42"/>
          <a:stretch xmlns:a="http://schemas.openxmlformats.org/drawingml/2006/main"/>
        </p:blipFill>
        <p:spPr>
          <a:xfrm xmlns:a="http://schemas.openxmlformats.org/drawingml/2006/main">
            <a:off x="4998607" y="2114550"/>
            <a:ext cx="5499961" cy="3886200"/>
          </a:xfrm>
          <a:prstGeom xmlns:a="http://schemas.openxmlformats.org/drawingml/2006/main" prst="rect">
            <a:avLst/>
          </a:prstGeom>
        </p:spPr>
      </p:pic>
      <p:sp>
        <p:nvSpPr>
          <p:cNvPr id="9" name="text-68">
            <a:extLst xmlns:a="http://schemas.openxmlformats.org/drawingml/2006/main">
              <a:ext uri="{FF2B5EF4-FFF2-40B4-BE49-F238E27FC236}">
                <a16:creationId xmlns:a16="http://schemas.microsoft.com/office/drawing/2014/main" id="{B43F1C6C-138C-4532-8AE7-06BEA1215ED2}"/>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The Agent prepares. You review and submit.  /  Local prototype, fictional data.</a:t>
            </a:r>
          </a:p>
        </p:txBody>
      </p:sp>
      <p:sp>
        <p:nvSpPr>
          <p:cNvPr id="10" name="text-69">
            <a:extLst xmlns:a="http://schemas.openxmlformats.org/drawingml/2006/main">
              <a:ext uri="{FF2B5EF4-FFF2-40B4-BE49-F238E27FC236}">
                <a16:creationId xmlns:a16="http://schemas.microsoft.com/office/drawing/2014/main" id="{E54C8B31-8A3B-468C-9DA8-D5750AF5DBB7}"/>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08 / 14</a:t>
            </a:r>
          </a:p>
        </p:txBody>
      </p:sp>
    </p:spTree>
    <p:extLst>
      <p:ext uri="{BB962C8B-B14F-4D97-AF65-F5344CB8AC3E}">
        <p14:creationId xmlns:p14="http://schemas.microsoft.com/office/powerpoint/2010/main" val="42601954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70">
            <a:extLst xmlns:a="http://schemas.openxmlformats.org/drawingml/2006/main">
              <a:ext uri="{FF2B5EF4-FFF2-40B4-BE49-F238E27FC236}">
                <a16:creationId xmlns:a16="http://schemas.microsoft.com/office/drawing/2014/main" id="{486B1B94-7A34-451C-88AE-2DAE57A4DD6D}"/>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Trust grows through useful help</a:t>
            </a:r>
          </a:p>
        </p:txBody>
      </p:sp>
      <p:sp>
        <p:nvSpPr>
          <p:cNvPr id="2" name="text-71">
            <a:extLst xmlns:a="http://schemas.openxmlformats.org/drawingml/2006/main">
              <a:ext uri="{FF2B5EF4-FFF2-40B4-BE49-F238E27FC236}">
                <a16:creationId xmlns:a16="http://schemas.microsoft.com/office/drawing/2014/main" id="{6DB5EC9A-0D4D-4E42-95D9-19BB8B6387CA}"/>
              </a:ext>
            </a:extLst>
          </p:cNvPr>
          <p:cNvSpPr>
            <a:spLocks xmlns:a="http://schemas.openxmlformats.org/drawingml/2006/main" noGrp="1"/>
          </p:cNvSpPr>
          <p:nvPr/>
        </p:nvSpPr>
        <p:spPr>
          <a:xfrm xmlns:a="http://schemas.openxmlformats.org/drawingml/2006/main">
            <a:off x="723900" y="2028825"/>
            <a:ext cx="190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1">
                <a:solidFill>
                  <a:srgbClr val="0079C8"/>
                </a:solidFill>
                <a:latin typeface="Arial"/>
                <a:ea typeface="Arial"/>
                <a:cs typeface="Arial"/>
              </a:defRPr>
            </a:pPr>
            <a:r>
              <a:rPr sz="7200" b="1">
                <a:solidFill>
                  <a:srgbClr val="0079C8"/>
                </a:solidFill>
                <a:latin typeface="Arial"/>
                <a:ea typeface="Arial"/>
                <a:cs typeface="Arial"/>
              </a:rPr>
              <a:t>0</a:t>
            </a:r>
          </a:p>
        </p:txBody>
      </p:sp>
      <p:sp>
        <p:nvSpPr>
          <p:cNvPr id="3" name="text-72">
            <a:extLst xmlns:a="http://schemas.openxmlformats.org/drawingml/2006/main">
              <a:ext uri="{FF2B5EF4-FFF2-40B4-BE49-F238E27FC236}">
                <a16:creationId xmlns:a16="http://schemas.microsoft.com/office/drawing/2014/main" id="{CC869736-0A72-4271-BA48-AB35B169BD19}"/>
              </a:ext>
            </a:extLst>
          </p:cNvPr>
          <p:cNvSpPr>
            <a:spLocks xmlns:a="http://schemas.openxmlformats.org/drawingml/2006/main" noGrp="1"/>
          </p:cNvSpPr>
          <p:nvPr/>
        </p:nvSpPr>
        <p:spPr>
          <a:xfrm xmlns:a="http://schemas.openxmlformats.org/drawingml/2006/main">
            <a:off x="723900" y="3581400"/>
            <a:ext cx="2562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B60"/>
                </a:solidFill>
                <a:latin typeface="Arial"/>
                <a:ea typeface="Arial"/>
                <a:cs typeface="Arial"/>
              </a:defRPr>
            </a:pPr>
            <a:r>
              <a:rPr sz="2175" b="1">
                <a:solidFill>
                  <a:srgbClr val="073B60"/>
                </a:solidFill>
                <a:latin typeface="Arial"/>
                <a:ea typeface="Arial"/>
                <a:cs typeface="Arial"/>
              </a:rPr>
              <a:t>Translator</a:t>
            </a:r>
          </a:p>
        </p:txBody>
      </p:sp>
      <p:sp>
        <p:nvSpPr>
          <p:cNvPr id="4" name="text-73">
            <a:extLst xmlns:a="http://schemas.openxmlformats.org/drawingml/2006/main">
              <a:ext uri="{FF2B5EF4-FFF2-40B4-BE49-F238E27FC236}">
                <a16:creationId xmlns:a16="http://schemas.microsoft.com/office/drawing/2014/main" id="{0EB30C49-8862-45A9-980F-05446EAD2A0D}"/>
              </a:ext>
            </a:extLst>
          </p:cNvPr>
          <p:cNvSpPr>
            <a:spLocks xmlns:a="http://schemas.openxmlformats.org/drawingml/2006/main" noGrp="1"/>
          </p:cNvSpPr>
          <p:nvPr/>
        </p:nvSpPr>
        <p:spPr>
          <a:xfrm xmlns:a="http://schemas.openxmlformats.org/drawingml/2006/main">
            <a:off x="723900" y="4305300"/>
            <a:ext cx="25050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Explain without</a:t>
            </a:r>
          </a:p>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saving history</a:t>
            </a:r>
          </a:p>
        </p:txBody>
      </p:sp>
      <p:sp>
        <p:nvSpPr>
          <p:cNvPr id="5" name="text-74">
            <a:extLst xmlns:a="http://schemas.openxmlformats.org/drawingml/2006/main">
              <a:ext uri="{FF2B5EF4-FFF2-40B4-BE49-F238E27FC236}">
                <a16:creationId xmlns:a16="http://schemas.microsoft.com/office/drawing/2014/main" id="{0346D4B7-BF66-496D-B555-6C27E34FB7B2}"/>
              </a:ext>
            </a:extLst>
          </p:cNvPr>
          <p:cNvSpPr>
            <a:spLocks xmlns:a="http://schemas.openxmlformats.org/drawingml/2006/main" noGrp="1"/>
          </p:cNvSpPr>
          <p:nvPr/>
        </p:nvSpPr>
        <p:spPr>
          <a:xfrm xmlns:a="http://schemas.openxmlformats.org/drawingml/2006/main">
            <a:off x="3533775" y="2028825"/>
            <a:ext cx="190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1">
                <a:solidFill>
                  <a:srgbClr val="0079C8"/>
                </a:solidFill>
                <a:latin typeface="Arial"/>
                <a:ea typeface="Arial"/>
                <a:cs typeface="Arial"/>
              </a:defRPr>
            </a:pPr>
            <a:r>
              <a:rPr sz="7200" b="1">
                <a:solidFill>
                  <a:srgbClr val="0079C8"/>
                </a:solidFill>
                <a:latin typeface="Arial"/>
                <a:ea typeface="Arial"/>
                <a:cs typeface="Arial"/>
              </a:rPr>
              <a:t>1</a:t>
            </a:r>
          </a:p>
        </p:txBody>
      </p:sp>
      <p:sp>
        <p:nvSpPr>
          <p:cNvPr id="6" name="text-75">
            <a:extLst xmlns:a="http://schemas.openxmlformats.org/drawingml/2006/main">
              <a:ext uri="{FF2B5EF4-FFF2-40B4-BE49-F238E27FC236}">
                <a16:creationId xmlns:a16="http://schemas.microsoft.com/office/drawing/2014/main" id="{68E9CEB9-C596-4287-94BC-8B2C1E73B3FE}"/>
              </a:ext>
            </a:extLst>
          </p:cNvPr>
          <p:cNvSpPr>
            <a:spLocks xmlns:a="http://schemas.openxmlformats.org/drawingml/2006/main" noGrp="1"/>
          </p:cNvSpPr>
          <p:nvPr/>
        </p:nvSpPr>
        <p:spPr>
          <a:xfrm xmlns:a="http://schemas.openxmlformats.org/drawingml/2006/main">
            <a:off x="3533775" y="3581400"/>
            <a:ext cx="2562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B60"/>
                </a:solidFill>
                <a:latin typeface="Arial"/>
                <a:ea typeface="Arial"/>
                <a:cs typeface="Arial"/>
              </a:defRPr>
            </a:pPr>
            <a:r>
              <a:rPr sz="2175" b="1">
                <a:solidFill>
                  <a:srgbClr val="073B60"/>
                </a:solidFill>
                <a:latin typeface="Arial"/>
                <a:ea typeface="Arial"/>
                <a:cs typeface="Arial"/>
              </a:rPr>
              <a:t>Form-filler</a:t>
            </a:r>
          </a:p>
        </p:txBody>
      </p:sp>
      <p:sp>
        <p:nvSpPr>
          <p:cNvPr id="7" name="text-76">
            <a:extLst xmlns:a="http://schemas.openxmlformats.org/drawingml/2006/main">
              <a:ext uri="{FF2B5EF4-FFF2-40B4-BE49-F238E27FC236}">
                <a16:creationId xmlns:a16="http://schemas.microsoft.com/office/drawing/2014/main" id="{277A5950-0C90-49D3-AC6A-0C68719059E0}"/>
              </a:ext>
            </a:extLst>
          </p:cNvPr>
          <p:cNvSpPr>
            <a:spLocks xmlns:a="http://schemas.openxmlformats.org/drawingml/2006/main" noGrp="1"/>
          </p:cNvSpPr>
          <p:nvPr/>
        </p:nvSpPr>
        <p:spPr>
          <a:xfrm xmlns:a="http://schemas.openxmlformats.org/drawingml/2006/main">
            <a:off x="3533775" y="4305300"/>
            <a:ext cx="25050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Prepare fields</a:t>
            </a:r>
          </a:p>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for review</a:t>
            </a:r>
          </a:p>
        </p:txBody>
      </p:sp>
      <p:sp>
        <p:nvSpPr>
          <p:cNvPr id="8" name="text-77">
            <a:extLst xmlns:a="http://schemas.openxmlformats.org/drawingml/2006/main">
              <a:ext uri="{FF2B5EF4-FFF2-40B4-BE49-F238E27FC236}">
                <a16:creationId xmlns:a16="http://schemas.microsoft.com/office/drawing/2014/main" id="{E2D65EE7-88AC-4395-A5A4-CF10D7BE11C9}"/>
              </a:ext>
            </a:extLst>
          </p:cNvPr>
          <p:cNvSpPr>
            <a:spLocks xmlns:a="http://schemas.openxmlformats.org/drawingml/2006/main" noGrp="1"/>
          </p:cNvSpPr>
          <p:nvPr/>
        </p:nvSpPr>
        <p:spPr>
          <a:xfrm xmlns:a="http://schemas.openxmlformats.org/drawingml/2006/main">
            <a:off x="6343650" y="2028825"/>
            <a:ext cx="190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1">
                <a:solidFill>
                  <a:srgbClr val="0079C8"/>
                </a:solidFill>
                <a:latin typeface="Arial"/>
                <a:ea typeface="Arial"/>
                <a:cs typeface="Arial"/>
              </a:defRPr>
            </a:pPr>
            <a:r>
              <a:rPr sz="7200" b="1">
                <a:solidFill>
                  <a:srgbClr val="0079C8"/>
                </a:solidFill>
                <a:latin typeface="Arial"/>
                <a:ea typeface="Arial"/>
                <a:cs typeface="Arial"/>
              </a:rPr>
              <a:t>2</a:t>
            </a:r>
          </a:p>
        </p:txBody>
      </p:sp>
      <p:sp>
        <p:nvSpPr>
          <p:cNvPr id="9" name="text-78">
            <a:extLst xmlns:a="http://schemas.openxmlformats.org/drawingml/2006/main">
              <a:ext uri="{FF2B5EF4-FFF2-40B4-BE49-F238E27FC236}">
                <a16:creationId xmlns:a16="http://schemas.microsoft.com/office/drawing/2014/main" id="{D019BE61-F2AC-4723-9EA4-1CC4F337C180}"/>
              </a:ext>
            </a:extLst>
          </p:cNvPr>
          <p:cNvSpPr>
            <a:spLocks xmlns:a="http://schemas.openxmlformats.org/drawingml/2006/main" noGrp="1"/>
          </p:cNvSpPr>
          <p:nvPr/>
        </p:nvSpPr>
        <p:spPr>
          <a:xfrm xmlns:a="http://schemas.openxmlformats.org/drawingml/2006/main">
            <a:off x="6343650" y="3581400"/>
            <a:ext cx="2562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B60"/>
                </a:solidFill>
                <a:latin typeface="Arial"/>
                <a:ea typeface="Arial"/>
                <a:cs typeface="Arial"/>
              </a:defRPr>
            </a:pPr>
            <a:r>
              <a:rPr sz="2175" b="1">
                <a:solidFill>
                  <a:srgbClr val="073B60"/>
                </a:solidFill>
                <a:latin typeface="Arial"/>
                <a:ea typeface="Arial"/>
                <a:cs typeface="Arial"/>
              </a:rPr>
              <a:t>Assistant</a:t>
            </a:r>
          </a:p>
        </p:txBody>
      </p:sp>
      <p:sp>
        <p:nvSpPr>
          <p:cNvPr id="10" name="text-79">
            <a:extLst xmlns:a="http://schemas.openxmlformats.org/drawingml/2006/main">
              <a:ext uri="{FF2B5EF4-FFF2-40B4-BE49-F238E27FC236}">
                <a16:creationId xmlns:a16="http://schemas.microsoft.com/office/drawing/2014/main" id="{A0711CD1-4ED0-45B9-8403-BC2FF1838341}"/>
              </a:ext>
            </a:extLst>
          </p:cNvPr>
          <p:cNvSpPr>
            <a:spLocks xmlns:a="http://schemas.openxmlformats.org/drawingml/2006/main" noGrp="1"/>
          </p:cNvSpPr>
          <p:nvPr/>
        </p:nvSpPr>
        <p:spPr>
          <a:xfrm xmlns:a="http://schemas.openxmlformats.org/drawingml/2006/main">
            <a:off x="6343650" y="4305300"/>
            <a:ext cx="25050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Reuse details</a:t>
            </a:r>
          </a:p>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with permission</a:t>
            </a:r>
          </a:p>
        </p:txBody>
      </p:sp>
      <p:sp>
        <p:nvSpPr>
          <p:cNvPr id="11" name="text-80">
            <a:extLst xmlns:a="http://schemas.openxmlformats.org/drawingml/2006/main">
              <a:ext uri="{FF2B5EF4-FFF2-40B4-BE49-F238E27FC236}">
                <a16:creationId xmlns:a16="http://schemas.microsoft.com/office/drawing/2014/main" id="{2A05C2CF-C57F-4B60-905A-C08A2FD6394E}"/>
              </a:ext>
            </a:extLst>
          </p:cNvPr>
          <p:cNvSpPr>
            <a:spLocks xmlns:a="http://schemas.openxmlformats.org/drawingml/2006/main" noGrp="1"/>
          </p:cNvSpPr>
          <p:nvPr/>
        </p:nvSpPr>
        <p:spPr>
          <a:xfrm xmlns:a="http://schemas.openxmlformats.org/drawingml/2006/main">
            <a:off x="9153525" y="2028825"/>
            <a:ext cx="190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200" b="1">
                <a:solidFill>
                  <a:srgbClr val="0079C8"/>
                </a:solidFill>
                <a:latin typeface="Arial"/>
                <a:ea typeface="Arial"/>
                <a:cs typeface="Arial"/>
              </a:defRPr>
            </a:pPr>
            <a:r>
              <a:rPr sz="7200" b="1">
                <a:solidFill>
                  <a:srgbClr val="0079C8"/>
                </a:solidFill>
                <a:latin typeface="Arial"/>
                <a:ea typeface="Arial"/>
                <a:cs typeface="Arial"/>
              </a:rPr>
              <a:t>3</a:t>
            </a:r>
          </a:p>
        </p:txBody>
      </p:sp>
      <p:sp>
        <p:nvSpPr>
          <p:cNvPr id="12" name="text-81">
            <a:extLst xmlns:a="http://schemas.openxmlformats.org/drawingml/2006/main">
              <a:ext uri="{FF2B5EF4-FFF2-40B4-BE49-F238E27FC236}">
                <a16:creationId xmlns:a16="http://schemas.microsoft.com/office/drawing/2014/main" id="{95D19FCC-BF2B-447C-A8B6-F5A76425602B}"/>
              </a:ext>
            </a:extLst>
          </p:cNvPr>
          <p:cNvSpPr>
            <a:spLocks xmlns:a="http://schemas.openxmlformats.org/drawingml/2006/main" noGrp="1"/>
          </p:cNvSpPr>
          <p:nvPr/>
        </p:nvSpPr>
        <p:spPr>
          <a:xfrm xmlns:a="http://schemas.openxmlformats.org/drawingml/2006/main">
            <a:off x="9153525" y="3581400"/>
            <a:ext cx="2562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B60"/>
                </a:solidFill>
                <a:latin typeface="Arial"/>
                <a:ea typeface="Arial"/>
                <a:cs typeface="Arial"/>
              </a:defRPr>
            </a:pPr>
            <a:r>
              <a:rPr sz="2175" b="1">
                <a:solidFill>
                  <a:srgbClr val="073B60"/>
                </a:solidFill>
                <a:latin typeface="Arial"/>
                <a:ea typeface="Arial"/>
                <a:cs typeface="Arial"/>
              </a:rPr>
              <a:t>Steward</a:t>
            </a:r>
          </a:p>
        </p:txBody>
      </p:sp>
      <p:sp>
        <p:nvSpPr>
          <p:cNvPr id="13" name="text-82">
            <a:extLst xmlns:a="http://schemas.openxmlformats.org/drawingml/2006/main">
              <a:ext uri="{FF2B5EF4-FFF2-40B4-BE49-F238E27FC236}">
                <a16:creationId xmlns:a16="http://schemas.microsoft.com/office/drawing/2014/main" id="{FA8390DE-8FFC-4E8C-BCF1-923082B40049}"/>
              </a:ext>
            </a:extLst>
          </p:cNvPr>
          <p:cNvSpPr>
            <a:spLocks xmlns:a="http://schemas.openxmlformats.org/drawingml/2006/main" noGrp="1"/>
          </p:cNvSpPr>
          <p:nvPr/>
        </p:nvSpPr>
        <p:spPr>
          <a:xfrm xmlns:a="http://schemas.openxmlformats.org/drawingml/2006/main">
            <a:off x="9153525" y="4305300"/>
            <a:ext cx="25050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Offer reminders</a:t>
            </a:r>
          </a:p>
          <a:p xmlns:a="http://schemas.openxmlformats.org/drawingml/2006/main">
            <a:pPr algn="l">
              <a:defRPr sz="1875" b="0">
                <a:solidFill>
                  <a:srgbClr val="526D82"/>
                </a:solidFill>
                <a:latin typeface="Arial"/>
                <a:ea typeface="Arial"/>
                <a:cs typeface="Arial"/>
              </a:defRPr>
            </a:pPr>
            <a:r>
              <a:rPr sz="1875" b="0">
                <a:solidFill>
                  <a:srgbClr val="526D82"/>
                </a:solidFill>
                <a:latin typeface="Arial"/>
                <a:ea typeface="Arial"/>
                <a:cs typeface="Arial"/>
              </a:rPr>
              <a:t>the user chooses</a:t>
            </a:r>
          </a:p>
        </p:txBody>
      </p:sp>
      <p:sp>
        <p:nvSpPr>
          <p:cNvPr id="14" name="text-83">
            <a:extLst xmlns:a="http://schemas.openxmlformats.org/drawingml/2006/main">
              <a:ext uri="{FF2B5EF4-FFF2-40B4-BE49-F238E27FC236}">
                <a16:creationId xmlns:a16="http://schemas.microsoft.com/office/drawing/2014/main" id="{1AA73B8F-5729-4825-B975-3236247CAF1E}"/>
              </a:ext>
            </a:extLst>
          </p:cNvPr>
          <p:cNvSpPr>
            <a:spLocks xmlns:a="http://schemas.openxmlformats.org/drawingml/2006/main" noGrp="1"/>
          </p:cNvSpPr>
          <p:nvPr/>
        </p:nvSpPr>
        <p:spPr>
          <a:xfrm xmlns:a="http://schemas.openxmlformats.org/drawingml/2006/main">
            <a:off x="742950" y="56578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9C8"/>
                </a:solidFill>
                <a:latin typeface="Arial"/>
                <a:ea typeface="Arial"/>
                <a:cs typeface="Arial"/>
              </a:defRPr>
            </a:pPr>
            <a:r>
              <a:rPr sz="1875" b="0">
                <a:solidFill>
                  <a:srgbClr val="0079C8"/>
                </a:solidFill>
                <a:latin typeface="Arial"/>
                <a:ea typeface="Arial"/>
                <a:cs typeface="Arial"/>
              </a:rPr>
              <a:t>Choose the level. Preview the benefit. Withdraw permission.</a:t>
            </a:r>
          </a:p>
        </p:txBody>
      </p:sp>
      <p:sp>
        <p:nvSpPr>
          <p:cNvPr id="15" name="text-84">
            <a:extLst xmlns:a="http://schemas.openxmlformats.org/drawingml/2006/main">
              <a:ext uri="{FF2B5EF4-FFF2-40B4-BE49-F238E27FC236}">
                <a16:creationId xmlns:a16="http://schemas.microsoft.com/office/drawing/2014/main" id="{B3709B36-F93E-47B3-A85C-6B5527AD8243}"/>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Proposed permission model</a:t>
            </a:r>
          </a:p>
        </p:txBody>
      </p:sp>
      <p:sp>
        <p:nvSpPr>
          <p:cNvPr id="16" name="text-85">
            <a:extLst xmlns:a="http://schemas.openxmlformats.org/drawingml/2006/main">
              <a:ext uri="{FF2B5EF4-FFF2-40B4-BE49-F238E27FC236}">
                <a16:creationId xmlns:a16="http://schemas.microsoft.com/office/drawing/2014/main" id="{775B7BC1-AFBA-4395-8449-95CEF21EA44A}"/>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09 / 14</a:t>
            </a:r>
          </a:p>
        </p:txBody>
      </p:sp>
    </p:spTree>
    <p:extLst>
      <p:ext uri="{BB962C8B-B14F-4D97-AF65-F5344CB8AC3E}">
        <p14:creationId xmlns:p14="http://schemas.microsoft.com/office/powerpoint/2010/main" val="1417851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86">
            <a:extLst xmlns:a="http://schemas.openxmlformats.org/drawingml/2006/main">
              <a:ext uri="{FF2B5EF4-FFF2-40B4-BE49-F238E27FC236}">
                <a16:creationId xmlns:a16="http://schemas.microsoft.com/office/drawing/2014/main" id="{B31C7857-6313-4706-9002-1B8704B8848A}"/>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Lin’s first GP booking</a:t>
            </a:r>
          </a:p>
        </p:txBody>
      </p:sp>
      <p:sp>
        <p:nvSpPr>
          <p:cNvPr id="2" name="text-87">
            <a:extLst xmlns:a="http://schemas.openxmlformats.org/drawingml/2006/main">
              <a:ext uri="{FF2B5EF4-FFF2-40B4-BE49-F238E27FC236}">
                <a16:creationId xmlns:a16="http://schemas.microsoft.com/office/drawing/2014/main" id="{AAEB1CA4-282E-49B9-87E3-698151A2B345}"/>
              </a:ext>
            </a:extLst>
          </p:cNvPr>
          <p:cNvSpPr>
            <a:spLocks xmlns:a="http://schemas.openxmlformats.org/drawingml/2006/main" noGrp="1"/>
          </p:cNvSpPr>
          <p:nvPr/>
        </p:nvSpPr>
        <p:spPr>
          <a:xfrm xmlns:a="http://schemas.openxmlformats.org/drawingml/2006/main">
            <a:off x="723900" y="2124075"/>
            <a:ext cx="42005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B60"/>
                </a:solidFill>
                <a:latin typeface="Arial"/>
                <a:ea typeface="Arial"/>
                <a:cs typeface="Arial"/>
              </a:defRPr>
            </a:pPr>
            <a:r>
              <a:rPr sz="2175" b="1">
                <a:solidFill>
                  <a:srgbClr val="073B60"/>
                </a:solidFill>
                <a:latin typeface="Arial"/>
                <a:ea typeface="Arial"/>
                <a:cs typeface="Arial"/>
              </a:rPr>
              <a:t>Ask in Chinese</a:t>
            </a:r>
          </a:p>
        </p:txBody>
      </p:sp>
      <p:sp>
        <p:nvSpPr>
          <p:cNvPr id="3" name="text-88">
            <a:extLst xmlns:a="http://schemas.openxmlformats.org/drawingml/2006/main">
              <a:ext uri="{FF2B5EF4-FFF2-40B4-BE49-F238E27FC236}">
                <a16:creationId xmlns:a16="http://schemas.microsoft.com/office/drawing/2014/main" id="{BD76F11A-E7AB-49A3-B0D1-C2B147864E1F}"/>
              </a:ext>
            </a:extLst>
          </p:cNvPr>
          <p:cNvSpPr>
            <a:spLocks xmlns:a="http://schemas.openxmlformats.org/drawingml/2006/main" noGrp="1"/>
          </p:cNvSpPr>
          <p:nvPr/>
        </p:nvSpPr>
        <p:spPr>
          <a:xfrm xmlns:a="http://schemas.openxmlformats.org/drawingml/2006/main">
            <a:off x="723900" y="2562225"/>
            <a:ext cx="41624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D82"/>
                </a:solidFill>
                <a:latin typeface="Arial"/>
                <a:ea typeface="Arial"/>
                <a:cs typeface="Arial"/>
              </a:defRPr>
            </a:pPr>
            <a:r>
              <a:rPr sz="1800" b="0">
                <a:solidFill>
                  <a:srgbClr val="526D82"/>
                </a:solidFill>
                <a:latin typeface="Arial"/>
                <a:ea typeface="Arial"/>
                <a:cs typeface="Arial"/>
              </a:rPr>
              <a:t>Understand the cover context</a:t>
            </a:r>
          </a:p>
        </p:txBody>
      </p:sp>
      <p:sp>
        <p:nvSpPr>
          <p:cNvPr id="4" name="text-89">
            <a:extLst xmlns:a="http://schemas.openxmlformats.org/drawingml/2006/main">
              <a:ext uri="{FF2B5EF4-FFF2-40B4-BE49-F238E27FC236}">
                <a16:creationId xmlns:a16="http://schemas.microsoft.com/office/drawing/2014/main" id="{65A2D700-237F-4645-A585-6605573A2298}"/>
              </a:ext>
            </a:extLst>
          </p:cNvPr>
          <p:cNvSpPr>
            <a:spLocks xmlns:a="http://schemas.openxmlformats.org/drawingml/2006/main" noGrp="1"/>
          </p:cNvSpPr>
          <p:nvPr/>
        </p:nvSpPr>
        <p:spPr>
          <a:xfrm xmlns:a="http://schemas.openxmlformats.org/drawingml/2006/main">
            <a:off x="723900" y="3343275"/>
            <a:ext cx="4171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9C8"/>
                </a:solidFill>
                <a:latin typeface="Arial"/>
                <a:ea typeface="Arial"/>
                <a:cs typeface="Arial"/>
              </a:defRPr>
            </a:pPr>
            <a:r>
              <a:rPr sz="2175" b="1">
                <a:solidFill>
                  <a:srgbClr val="0079C8"/>
                </a:solidFill>
                <a:latin typeface="Arial"/>
                <a:ea typeface="Arial"/>
                <a:cs typeface="Arial"/>
              </a:rPr>
              <a:t>Share a postcode</a:t>
            </a:r>
          </a:p>
        </p:txBody>
      </p:sp>
      <p:sp>
        <p:nvSpPr>
          <p:cNvPr id="5" name="text-90">
            <a:extLst xmlns:a="http://schemas.openxmlformats.org/drawingml/2006/main">
              <a:ext uri="{FF2B5EF4-FFF2-40B4-BE49-F238E27FC236}">
                <a16:creationId xmlns:a16="http://schemas.microsoft.com/office/drawing/2014/main" id="{6319671B-17D1-4E6A-B280-33FC7327808E}"/>
              </a:ext>
            </a:extLst>
          </p:cNvPr>
          <p:cNvSpPr>
            <a:spLocks xmlns:a="http://schemas.openxmlformats.org/drawingml/2006/main" noGrp="1"/>
          </p:cNvSpPr>
          <p:nvPr/>
        </p:nvSpPr>
        <p:spPr>
          <a:xfrm xmlns:a="http://schemas.openxmlformats.org/drawingml/2006/main">
            <a:off x="723900" y="3790950"/>
            <a:ext cx="4143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D82"/>
                </a:solidFill>
                <a:latin typeface="Arial"/>
                <a:ea typeface="Arial"/>
                <a:cs typeface="Arial"/>
              </a:defRPr>
            </a:pPr>
            <a:r>
              <a:rPr sz="1800" b="0">
                <a:solidFill>
                  <a:srgbClr val="526D82"/>
                </a:solidFill>
                <a:latin typeface="Arial"/>
                <a:ea typeface="Arial"/>
                <a:cs typeface="Arial"/>
              </a:rPr>
              <a:t>A clear purpose and a choice</a:t>
            </a:r>
          </a:p>
        </p:txBody>
      </p:sp>
      <p:sp>
        <p:nvSpPr>
          <p:cNvPr id="6" name="text-91">
            <a:extLst xmlns:a="http://schemas.openxmlformats.org/drawingml/2006/main">
              <a:ext uri="{FF2B5EF4-FFF2-40B4-BE49-F238E27FC236}">
                <a16:creationId xmlns:a16="http://schemas.microsoft.com/office/drawing/2014/main" id="{F3B10D1E-15B5-4ED0-A6A3-5693D24C9F4F}"/>
              </a:ext>
            </a:extLst>
          </p:cNvPr>
          <p:cNvSpPr>
            <a:spLocks xmlns:a="http://schemas.openxmlformats.org/drawingml/2006/main" noGrp="1"/>
          </p:cNvSpPr>
          <p:nvPr/>
        </p:nvSpPr>
        <p:spPr>
          <a:xfrm xmlns:a="http://schemas.openxmlformats.org/drawingml/2006/main">
            <a:off x="723900" y="4581525"/>
            <a:ext cx="4171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73B60"/>
                </a:solidFill>
                <a:latin typeface="Arial"/>
                <a:ea typeface="Arial"/>
                <a:cs typeface="Arial"/>
              </a:defRPr>
            </a:pPr>
            <a:r>
              <a:rPr sz="2175" b="1">
                <a:solidFill>
                  <a:srgbClr val="073B60"/>
                </a:solidFill>
                <a:latin typeface="Arial"/>
                <a:ea typeface="Arial"/>
                <a:cs typeface="Arial"/>
              </a:rPr>
              <a:t>Review and submit</a:t>
            </a:r>
          </a:p>
        </p:txBody>
      </p:sp>
      <p:sp>
        <p:nvSpPr>
          <p:cNvPr id="7" name="text-92">
            <a:extLst xmlns:a="http://schemas.openxmlformats.org/drawingml/2006/main">
              <a:ext uri="{FF2B5EF4-FFF2-40B4-BE49-F238E27FC236}">
                <a16:creationId xmlns:a16="http://schemas.microsoft.com/office/drawing/2014/main" id="{7A27B942-FC19-41BE-BBBF-7AECAF8CBD43}"/>
              </a:ext>
            </a:extLst>
          </p:cNvPr>
          <p:cNvSpPr>
            <a:spLocks xmlns:a="http://schemas.openxmlformats.org/drawingml/2006/main" noGrp="1"/>
          </p:cNvSpPr>
          <p:nvPr/>
        </p:nvSpPr>
        <p:spPr>
          <a:xfrm xmlns:a="http://schemas.openxmlformats.org/drawingml/2006/main">
            <a:off x="723900" y="5029200"/>
            <a:ext cx="41052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D82"/>
                </a:solidFill>
                <a:latin typeface="Arial"/>
                <a:ea typeface="Arial"/>
                <a:cs typeface="Arial"/>
              </a:defRPr>
            </a:pPr>
            <a:r>
              <a:rPr sz="1800" b="0">
                <a:solidFill>
                  <a:srgbClr val="526D82"/>
                </a:solidFill>
                <a:latin typeface="Arial"/>
                <a:ea typeface="Arial"/>
                <a:cs typeface="Arial"/>
              </a:rPr>
              <a:t>The appointment lands on Dashboard</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12978ad5de24576"/>
          <a:stretch xmlns:a="http://schemas.openxmlformats.org/drawingml/2006/main"/>
        </p:blipFill>
        <p:spPr>
          <a:xfrm xmlns:a="http://schemas.openxmlformats.org/drawingml/2006/main">
            <a:off x="4819650" y="2443513"/>
            <a:ext cx="6705600" cy="3085399"/>
          </a:xfrm>
          <a:prstGeom xmlns:a="http://schemas.openxmlformats.org/drawingml/2006/main" prst="rect">
            <a:avLst/>
          </a:prstGeom>
        </p:spPr>
      </p:pic>
      <p:sp>
        <p:nvSpPr>
          <p:cNvPr id="9" name="text-93">
            <a:extLst xmlns:a="http://schemas.openxmlformats.org/drawingml/2006/main">
              <a:ext uri="{FF2B5EF4-FFF2-40B4-BE49-F238E27FC236}">
                <a16:creationId xmlns:a16="http://schemas.microsoft.com/office/drawing/2014/main" id="{F39D6D3E-4CA2-4259-B889-F739A05931D0}"/>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Scripted demo. Fictional member, cover and clinic data.</a:t>
            </a:r>
          </a:p>
        </p:txBody>
      </p:sp>
      <p:sp>
        <p:nvSpPr>
          <p:cNvPr id="10" name="text-94">
            <a:extLst xmlns:a="http://schemas.openxmlformats.org/drawingml/2006/main">
              <a:ext uri="{FF2B5EF4-FFF2-40B4-BE49-F238E27FC236}">
                <a16:creationId xmlns:a16="http://schemas.microsoft.com/office/drawing/2014/main" id="{16E7BC88-908D-447D-96B0-E0E50EAC9B12}"/>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10 / 14</a:t>
            </a:r>
          </a:p>
        </p:txBody>
      </p:sp>
    </p:spTree>
    <p:extLst>
      <p:ext uri="{BB962C8B-B14F-4D97-AF65-F5344CB8AC3E}">
        <p14:creationId xmlns:p14="http://schemas.microsoft.com/office/powerpoint/2010/main" val="9557074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95">
            <a:extLst xmlns:a="http://schemas.openxmlformats.org/drawingml/2006/main">
              <a:ext uri="{FF2B5EF4-FFF2-40B4-BE49-F238E27FC236}">
                <a16:creationId xmlns:a16="http://schemas.microsoft.com/office/drawing/2014/main" id="{F1DB28EC-364E-4072-998C-236AAB48A70A}"/>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A useful next step,</a:t>
            </a:r>
          </a:p>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with permission</a:t>
            </a:r>
          </a:p>
        </p:txBody>
      </p:sp>
      <p:sp>
        <p:nvSpPr>
          <p:cNvPr id="2" name="text-96">
            <a:extLst xmlns:a="http://schemas.openxmlformats.org/drawingml/2006/main">
              <a:ext uri="{FF2B5EF4-FFF2-40B4-BE49-F238E27FC236}">
                <a16:creationId xmlns:a16="http://schemas.microsoft.com/office/drawing/2014/main" id="{4FB6816B-262B-41E3-B9E1-A6C1FB30DACF}"/>
              </a:ext>
            </a:extLst>
          </p:cNvPr>
          <p:cNvSpPr>
            <a:spLocks xmlns:a="http://schemas.openxmlformats.org/drawingml/2006/main" noGrp="1"/>
          </p:cNvSpPr>
          <p:nvPr/>
        </p:nvSpPr>
        <p:spPr>
          <a:xfrm xmlns:a="http://schemas.openxmlformats.org/drawingml/2006/main">
            <a:off x="714375" y="2352675"/>
            <a:ext cx="3495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9C8"/>
                </a:solidFill>
                <a:latin typeface="Arial"/>
                <a:ea typeface="Arial"/>
                <a:cs typeface="Arial"/>
              </a:defRPr>
            </a:pPr>
            <a:r>
              <a:rPr sz="2100" b="1">
                <a:solidFill>
                  <a:srgbClr val="0079C8"/>
                </a:solidFill>
                <a:latin typeface="Arial"/>
                <a:ea typeface="Arial"/>
                <a:cs typeface="Arial"/>
              </a:rPr>
              <a:t>Earlier</a:t>
            </a:r>
          </a:p>
        </p:txBody>
      </p:sp>
      <p:sp>
        <p:nvSpPr>
          <p:cNvPr id="3" name="text-97">
            <a:extLst xmlns:a="http://schemas.openxmlformats.org/drawingml/2006/main">
              <a:ext uri="{FF2B5EF4-FFF2-40B4-BE49-F238E27FC236}">
                <a16:creationId xmlns:a16="http://schemas.microsoft.com/office/drawing/2014/main" id="{1D2F2421-D642-4746-B4CB-D9B3C7785FC6}"/>
              </a:ext>
            </a:extLst>
          </p:cNvPr>
          <p:cNvSpPr>
            <a:spLocks xmlns:a="http://schemas.openxmlformats.org/drawingml/2006/main" noGrp="1"/>
          </p:cNvSpPr>
          <p:nvPr/>
        </p:nvSpPr>
        <p:spPr>
          <a:xfrm xmlns:a="http://schemas.openxmlformats.org/drawingml/2006/main">
            <a:off x="714375" y="2771775"/>
            <a:ext cx="3495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Lin permits a brief</a:t>
            </a:r>
          </a:p>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visit summary.</a:t>
            </a:r>
          </a:p>
        </p:txBody>
      </p:sp>
      <p:sp>
        <p:nvSpPr>
          <p:cNvPr id="4" name="text-98">
            <a:extLst xmlns:a="http://schemas.openxmlformats.org/drawingml/2006/main">
              <a:ext uri="{FF2B5EF4-FFF2-40B4-BE49-F238E27FC236}">
                <a16:creationId xmlns:a16="http://schemas.microsoft.com/office/drawing/2014/main" id="{C96F05E2-10F9-4033-B714-3B322C41E733}"/>
              </a:ext>
            </a:extLst>
          </p:cNvPr>
          <p:cNvSpPr>
            <a:spLocks xmlns:a="http://schemas.openxmlformats.org/drawingml/2006/main" noGrp="1"/>
          </p:cNvSpPr>
          <p:nvPr/>
        </p:nvSpPr>
        <p:spPr>
          <a:xfrm xmlns:a="http://schemas.openxmlformats.org/drawingml/2006/main">
            <a:off x="714375" y="3752850"/>
            <a:ext cx="3495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9C8"/>
                </a:solidFill>
                <a:latin typeface="Arial"/>
                <a:ea typeface="Arial"/>
                <a:cs typeface="Arial"/>
              </a:defRPr>
            </a:pPr>
            <a:r>
              <a:rPr sz="2100" b="1">
                <a:solidFill>
                  <a:srgbClr val="0079C8"/>
                </a:solidFill>
                <a:latin typeface="Arial"/>
                <a:ea typeface="Arial"/>
                <a:cs typeface="Arial"/>
              </a:rPr>
              <a:t>Today</a:t>
            </a:r>
          </a:p>
        </p:txBody>
      </p:sp>
      <p:sp>
        <p:nvSpPr>
          <p:cNvPr id="5" name="text-99">
            <a:extLst xmlns:a="http://schemas.openxmlformats.org/drawingml/2006/main">
              <a:ext uri="{FF2B5EF4-FFF2-40B4-BE49-F238E27FC236}">
                <a16:creationId xmlns:a16="http://schemas.microsoft.com/office/drawing/2014/main" id="{335B872A-3C4E-4CE3-960E-D8B9CA680A5D}"/>
              </a:ext>
            </a:extLst>
          </p:cNvPr>
          <p:cNvSpPr>
            <a:spLocks xmlns:a="http://schemas.openxmlformats.org/drawingml/2006/main" noGrp="1"/>
          </p:cNvSpPr>
          <p:nvPr/>
        </p:nvSpPr>
        <p:spPr>
          <a:xfrm xmlns:a="http://schemas.openxmlformats.org/drawingml/2006/main">
            <a:off x="714375" y="4171950"/>
            <a:ext cx="34956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A suggestion explains</a:t>
            </a:r>
          </a:p>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which information it uses.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704e1e14fe34b9d"/>
          <a:stretch xmlns:a="http://schemas.openxmlformats.org/drawingml/2006/main"/>
        </p:blipFill>
        <p:spPr>
          <a:xfrm xmlns:a="http://schemas.openxmlformats.org/drawingml/2006/main">
            <a:off x="4652995" y="2314575"/>
            <a:ext cx="6495984" cy="3305175"/>
          </a:xfrm>
          <a:prstGeom xmlns:a="http://schemas.openxmlformats.org/drawingml/2006/main" prst="rect">
            <a:avLst/>
          </a:prstGeom>
        </p:spPr>
      </p:pic>
      <p:sp>
        <p:nvSpPr>
          <p:cNvPr id="7" name="text-100">
            <a:extLst xmlns:a="http://schemas.openxmlformats.org/drawingml/2006/main">
              <a:ext uri="{FF2B5EF4-FFF2-40B4-BE49-F238E27FC236}">
                <a16:creationId xmlns:a16="http://schemas.microsoft.com/office/drawing/2014/main" id="{0CA385FA-651B-4889-95D0-1684BDEEC42F}"/>
              </a:ext>
            </a:extLst>
          </p:cNvPr>
          <p:cNvSpPr>
            <a:spLocks xmlns:a="http://schemas.openxmlformats.org/drawingml/2006/main" noGrp="1"/>
          </p:cNvSpPr>
          <p:nvPr/>
        </p:nvSpPr>
        <p:spPr>
          <a:xfrm xmlns:a="http://schemas.openxmlformats.org/drawingml/2006/main">
            <a:off x="714375" y="563880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9C8"/>
                </a:solidFill>
                <a:latin typeface="Arial"/>
                <a:ea typeface="Arial"/>
                <a:cs typeface="Arial"/>
              </a:defRPr>
            </a:pPr>
            <a:r>
              <a:rPr sz="1875" b="1">
                <a:solidFill>
                  <a:srgbClr val="0079C8"/>
                </a:solidFill>
                <a:latin typeface="Arial"/>
                <a:ea typeface="Arial"/>
                <a:cs typeface="Arial"/>
              </a:rPr>
              <a:t>Follow-up booking, if her doctor recommended it.</a:t>
            </a:r>
          </a:p>
        </p:txBody>
      </p:sp>
      <p:sp>
        <p:nvSpPr>
          <p:cNvPr id="8" name="text-101">
            <a:extLst xmlns:a="http://schemas.openxmlformats.org/drawingml/2006/main">
              <a:ext uri="{FF2B5EF4-FFF2-40B4-BE49-F238E27FC236}">
                <a16:creationId xmlns:a16="http://schemas.microsoft.com/office/drawing/2014/main" id="{2DD98D5E-8023-4BD7-8A19-013DA2BD5348}"/>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Concept walkthrough using the local prototype. Sharing remains optional.</a:t>
            </a:r>
          </a:p>
        </p:txBody>
      </p:sp>
      <p:sp>
        <p:nvSpPr>
          <p:cNvPr id="9" name="text-102">
            <a:extLst xmlns:a="http://schemas.openxmlformats.org/drawingml/2006/main">
              <a:ext uri="{FF2B5EF4-FFF2-40B4-BE49-F238E27FC236}">
                <a16:creationId xmlns:a16="http://schemas.microsoft.com/office/drawing/2014/main" id="{29C45FC7-C556-4039-8AED-AE53774C6156}"/>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11 / 14</a:t>
            </a:r>
          </a:p>
        </p:txBody>
      </p:sp>
    </p:spTree>
    <p:extLst>
      <p:ext uri="{BB962C8B-B14F-4D97-AF65-F5344CB8AC3E}">
        <p14:creationId xmlns:p14="http://schemas.microsoft.com/office/powerpoint/2010/main" val="85542886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03">
            <a:extLst xmlns:a="http://schemas.openxmlformats.org/drawingml/2006/main">
              <a:ext uri="{FF2B5EF4-FFF2-40B4-BE49-F238E27FC236}">
                <a16:creationId xmlns:a16="http://schemas.microsoft.com/office/drawing/2014/main" id="{AEC6ABEB-1207-4FC2-906D-6CCEAEE268B5}"/>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Prototype scope</a:t>
            </a:r>
          </a:p>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and production path</a:t>
            </a:r>
          </a:p>
        </p:txBody>
      </p:sp>
      <p:sp>
        <p:nvSpPr>
          <p:cNvPr id="2" name="text-104">
            <a:extLst xmlns:a="http://schemas.openxmlformats.org/drawingml/2006/main">
              <a:ext uri="{FF2B5EF4-FFF2-40B4-BE49-F238E27FC236}">
                <a16:creationId xmlns:a16="http://schemas.microsoft.com/office/drawing/2014/main" id="{91241D39-A685-4D97-BABA-5B3548895AA1}"/>
              </a:ext>
            </a:extLst>
          </p:cNvPr>
          <p:cNvSpPr>
            <a:spLocks xmlns:a="http://schemas.openxmlformats.org/drawingml/2006/main" noGrp="1"/>
          </p:cNvSpPr>
          <p:nvPr/>
        </p:nvSpPr>
        <p:spPr>
          <a:xfrm xmlns:a="http://schemas.openxmlformats.org/drawingml/2006/main">
            <a:off x="733425" y="2371725"/>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0079C8"/>
                </a:solidFill>
                <a:latin typeface="Arial"/>
                <a:ea typeface="Arial"/>
                <a:cs typeface="Arial"/>
              </a:defRPr>
            </a:pPr>
            <a:r>
              <a:rPr sz="2775" b="1">
                <a:solidFill>
                  <a:srgbClr val="0079C8"/>
                </a:solidFill>
                <a:latin typeface="Arial"/>
                <a:ea typeface="Arial"/>
                <a:cs typeface="Arial"/>
              </a:rPr>
              <a:t>Prototype</a:t>
            </a:r>
          </a:p>
        </p:txBody>
      </p:sp>
      <p:sp>
        <p:nvSpPr>
          <p:cNvPr id="3" name="text-105">
            <a:extLst xmlns:a="http://schemas.openxmlformats.org/drawingml/2006/main">
              <a:ext uri="{FF2B5EF4-FFF2-40B4-BE49-F238E27FC236}">
                <a16:creationId xmlns:a16="http://schemas.microsoft.com/office/drawing/2014/main" id="{7EEAEA53-CACC-4F86-9307-7CABA101E367}"/>
              </a:ext>
            </a:extLst>
          </p:cNvPr>
          <p:cNvSpPr>
            <a:spLocks xmlns:a="http://schemas.openxmlformats.org/drawingml/2006/main" noGrp="1"/>
          </p:cNvSpPr>
          <p:nvPr/>
        </p:nvSpPr>
        <p:spPr>
          <a:xfrm xmlns:a="http://schemas.openxmlformats.org/drawingml/2006/main">
            <a:off x="733425" y="3171825"/>
            <a:ext cx="47625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Permissions</a:t>
            </a:r>
          </a:p>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Booking preparation</a:t>
            </a:r>
          </a:p>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Receipts</a:t>
            </a:r>
          </a:p>
        </p:txBody>
      </p:sp>
      <p:sp>
        <p:nvSpPr>
          <p:cNvPr id="4" name="text-106">
            <a:extLst xmlns:a="http://schemas.openxmlformats.org/drawingml/2006/main">
              <a:ext uri="{FF2B5EF4-FFF2-40B4-BE49-F238E27FC236}">
                <a16:creationId xmlns:a16="http://schemas.microsoft.com/office/drawing/2014/main" id="{38E042E8-3775-43EE-B836-C5C19D1542F2}"/>
              </a:ext>
            </a:extLst>
          </p:cNvPr>
          <p:cNvSpPr>
            <a:spLocks xmlns:a="http://schemas.openxmlformats.org/drawingml/2006/main" noGrp="1"/>
          </p:cNvSpPr>
          <p:nvPr/>
        </p:nvSpPr>
        <p:spPr>
          <a:xfrm xmlns:a="http://schemas.openxmlformats.org/drawingml/2006/main">
            <a:off x="733425" y="52292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D82"/>
                </a:solidFill>
                <a:latin typeface="Arial"/>
                <a:ea typeface="Arial"/>
                <a:cs typeface="Arial"/>
              </a:defRPr>
            </a:pPr>
            <a:r>
              <a:rPr sz="1725" b="0">
                <a:solidFill>
                  <a:srgbClr val="526D82"/>
                </a:solidFill>
                <a:latin typeface="Arial"/>
                <a:ea typeface="Arial"/>
                <a:cs typeface="Arial"/>
              </a:rPr>
              <a:t>Scripted responses. Fictional data.</a:t>
            </a:r>
          </a:p>
        </p:txBody>
      </p:sp>
      <p:sp>
        <p:nvSpPr>
          <p:cNvPr id="5" name="text-107">
            <a:extLst xmlns:a="http://schemas.openxmlformats.org/drawingml/2006/main">
              <a:ext uri="{FF2B5EF4-FFF2-40B4-BE49-F238E27FC236}">
                <a16:creationId xmlns:a16="http://schemas.microsoft.com/office/drawing/2014/main" id="{E71CF175-C0B0-4EE5-927E-FB5A1118E292}"/>
              </a:ext>
            </a:extLst>
          </p:cNvPr>
          <p:cNvSpPr>
            <a:spLocks xmlns:a="http://schemas.openxmlformats.org/drawingml/2006/main" noGrp="1"/>
          </p:cNvSpPr>
          <p:nvPr/>
        </p:nvSpPr>
        <p:spPr>
          <a:xfrm xmlns:a="http://schemas.openxmlformats.org/drawingml/2006/main">
            <a:off x="6572250" y="2371725"/>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073B60"/>
                </a:solidFill>
                <a:latin typeface="Arial"/>
                <a:ea typeface="Arial"/>
                <a:cs typeface="Arial"/>
              </a:defRPr>
            </a:pPr>
            <a:r>
              <a:rPr sz="2775" b="1">
                <a:solidFill>
                  <a:srgbClr val="073B60"/>
                </a:solidFill>
                <a:latin typeface="Arial"/>
                <a:ea typeface="Arial"/>
                <a:cs typeface="Arial"/>
              </a:rPr>
              <a:t>Production path</a:t>
            </a:r>
          </a:p>
        </p:txBody>
      </p:sp>
      <p:sp>
        <p:nvSpPr>
          <p:cNvPr id="6" name="text-108">
            <a:extLst xmlns:a="http://schemas.openxmlformats.org/drawingml/2006/main">
              <a:ext uri="{FF2B5EF4-FFF2-40B4-BE49-F238E27FC236}">
                <a16:creationId xmlns:a16="http://schemas.microsoft.com/office/drawing/2014/main" id="{B752230B-D082-4993-8FAD-EEFBC195115F}"/>
              </a:ext>
            </a:extLst>
          </p:cNvPr>
          <p:cNvSpPr>
            <a:spLocks xmlns:a="http://schemas.openxmlformats.org/drawingml/2006/main" noGrp="1"/>
          </p:cNvSpPr>
          <p:nvPr/>
        </p:nvSpPr>
        <p:spPr>
          <a:xfrm xmlns:a="http://schemas.openxmlformats.org/drawingml/2006/main">
            <a:off x="6572250" y="3171825"/>
            <a:ext cx="485775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Approved integrations</a:t>
            </a:r>
          </a:p>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Verified cover rules</a:t>
            </a:r>
          </a:p>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Security review</a:t>
            </a:r>
          </a:p>
        </p:txBody>
      </p:sp>
      <p:sp>
        <p:nvSpPr>
          <p:cNvPr id="7" name="text-109">
            <a:extLst xmlns:a="http://schemas.openxmlformats.org/drawingml/2006/main">
              <a:ext uri="{FF2B5EF4-FFF2-40B4-BE49-F238E27FC236}">
                <a16:creationId xmlns:a16="http://schemas.microsoft.com/office/drawing/2014/main" id="{CE61BA08-E106-4127-8315-48D216E46EE3}"/>
              </a:ext>
            </a:extLst>
          </p:cNvPr>
          <p:cNvSpPr>
            <a:spLocks xmlns:a="http://schemas.openxmlformats.org/drawingml/2006/main" noGrp="1"/>
          </p:cNvSpPr>
          <p:nvPr/>
        </p:nvSpPr>
        <p:spPr>
          <a:xfrm xmlns:a="http://schemas.openxmlformats.org/drawingml/2006/main">
            <a:off x="6572250" y="522922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D82"/>
                </a:solidFill>
                <a:latin typeface="Arial"/>
                <a:ea typeface="Arial"/>
                <a:cs typeface="Arial"/>
              </a:defRPr>
            </a:pPr>
            <a:r>
              <a:rPr sz="1725" b="0">
                <a:solidFill>
                  <a:srgbClr val="526D82"/>
                </a:solidFill>
                <a:latin typeface="Arial"/>
                <a:ea typeface="Arial"/>
                <a:cs typeface="Arial"/>
              </a:rPr>
              <a:t>Requires Bupa and provider agreement.</a:t>
            </a:r>
          </a:p>
        </p:txBody>
      </p:sp>
      <p:sp>
        <p:nvSpPr>
          <p:cNvPr id="8" name="text-110">
            <a:extLst xmlns:a="http://schemas.openxmlformats.org/drawingml/2006/main">
              <a:ext uri="{FF2B5EF4-FFF2-40B4-BE49-F238E27FC236}">
                <a16:creationId xmlns:a16="http://schemas.microsoft.com/office/drawing/2014/main" id="{9807DDC2-18DC-487C-801B-70424F233B08}"/>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Production integration still required</a:t>
            </a:r>
          </a:p>
        </p:txBody>
      </p:sp>
      <p:sp>
        <p:nvSpPr>
          <p:cNvPr id="9" name="text-111">
            <a:extLst xmlns:a="http://schemas.openxmlformats.org/drawingml/2006/main">
              <a:ext uri="{FF2B5EF4-FFF2-40B4-BE49-F238E27FC236}">
                <a16:creationId xmlns:a16="http://schemas.microsoft.com/office/drawing/2014/main" id="{34F88D79-75A3-4E24-9E5E-E6C8AF502CF1}"/>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12 / 14</a:t>
            </a:r>
          </a:p>
        </p:txBody>
      </p:sp>
    </p:spTree>
    <p:extLst>
      <p:ext uri="{BB962C8B-B14F-4D97-AF65-F5344CB8AC3E}">
        <p14:creationId xmlns:p14="http://schemas.microsoft.com/office/powerpoint/2010/main" val="2005486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12">
            <a:extLst xmlns:a="http://schemas.openxmlformats.org/drawingml/2006/main">
              <a:ext uri="{FF2B5EF4-FFF2-40B4-BE49-F238E27FC236}">
                <a16:creationId xmlns:a16="http://schemas.microsoft.com/office/drawing/2014/main" id="{19416784-56FC-4691-8D40-8D62BBC97A40}"/>
              </a:ext>
            </a:extLst>
          </p:cNvPr>
          <p:cNvSpPr>
            <a:spLocks xmlns:a="http://schemas.openxmlformats.org/drawingml/2006/main" noGrp="1"/>
          </p:cNvSpPr>
          <p:nvPr/>
        </p:nvSpPr>
        <p:spPr>
          <a:xfrm xmlns:a="http://schemas.openxmlformats.org/drawingml/2006/main">
            <a:off x="685800" y="55245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73B60"/>
                </a:solidFill>
                <a:latin typeface="Arial"/>
                <a:ea typeface="Arial"/>
                <a:cs typeface="Arial"/>
              </a:defRPr>
            </a:pPr>
            <a:r>
              <a:rPr sz="3900" b="1">
                <a:solidFill>
                  <a:srgbClr val="073B60"/>
                </a:solidFill>
                <a:latin typeface="Arial"/>
                <a:ea typeface="Arial"/>
                <a:cs typeface="Arial"/>
              </a:rPr>
              <a:t>Value to test in a 90-day pilot</a:t>
            </a:r>
          </a:p>
        </p:txBody>
      </p:sp>
      <p:sp>
        <p:nvSpPr>
          <p:cNvPr id="2" name="text-113">
            <a:extLst xmlns:a="http://schemas.openxmlformats.org/drawingml/2006/main">
              <a:ext uri="{FF2B5EF4-FFF2-40B4-BE49-F238E27FC236}">
                <a16:creationId xmlns:a16="http://schemas.microsoft.com/office/drawing/2014/main" id="{E3B1A16E-1724-49A2-AFA7-75AFD1070E85}"/>
              </a:ext>
            </a:extLst>
          </p:cNvPr>
          <p:cNvSpPr>
            <a:spLocks xmlns:a="http://schemas.openxmlformats.org/drawingml/2006/main" noGrp="1"/>
          </p:cNvSpPr>
          <p:nvPr/>
        </p:nvSpPr>
        <p:spPr>
          <a:xfrm xmlns:a="http://schemas.openxmlformats.org/drawingml/2006/main">
            <a:off x="619125" y="2190750"/>
            <a:ext cx="4095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0" b="1">
                <a:solidFill>
                  <a:srgbClr val="0079C8"/>
                </a:solidFill>
                <a:latin typeface="Arial"/>
                <a:ea typeface="Arial"/>
                <a:cs typeface="Arial"/>
              </a:defRPr>
            </a:pPr>
            <a:r>
              <a:rPr sz="12750" b="1">
                <a:solidFill>
                  <a:srgbClr val="0079C8"/>
                </a:solidFill>
                <a:latin typeface="Arial"/>
                <a:ea typeface="Arial"/>
                <a:cs typeface="Arial"/>
              </a:rPr>
              <a:t>90</a:t>
            </a:r>
          </a:p>
        </p:txBody>
      </p:sp>
      <p:sp>
        <p:nvSpPr>
          <p:cNvPr id="3" name="text-114">
            <a:extLst xmlns:a="http://schemas.openxmlformats.org/drawingml/2006/main">
              <a:ext uri="{FF2B5EF4-FFF2-40B4-BE49-F238E27FC236}">
                <a16:creationId xmlns:a16="http://schemas.microsoft.com/office/drawing/2014/main" id="{A56B501C-F661-45AA-9177-74883F1855A7}"/>
              </a:ext>
            </a:extLst>
          </p:cNvPr>
          <p:cNvSpPr>
            <a:spLocks xmlns:a="http://schemas.openxmlformats.org/drawingml/2006/main" noGrp="1"/>
          </p:cNvSpPr>
          <p:nvPr/>
        </p:nvSpPr>
        <p:spPr>
          <a:xfrm xmlns:a="http://schemas.openxmlformats.org/drawingml/2006/main">
            <a:off x="781050" y="4333875"/>
            <a:ext cx="3476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0079C8"/>
                </a:solidFill>
                <a:latin typeface="Arial"/>
                <a:ea typeface="Arial"/>
                <a:cs typeface="Arial"/>
              </a:defRPr>
            </a:pPr>
            <a:r>
              <a:rPr sz="3450" b="0">
                <a:solidFill>
                  <a:srgbClr val="0079C8"/>
                </a:solidFill>
                <a:latin typeface="Arial"/>
                <a:ea typeface="Arial"/>
                <a:cs typeface="Arial"/>
              </a:rPr>
              <a:t>days</a:t>
            </a:r>
          </a:p>
        </p:txBody>
      </p:sp>
      <p:sp>
        <p:nvSpPr>
          <p:cNvPr id="4" name="text-115">
            <a:extLst xmlns:a="http://schemas.openxmlformats.org/drawingml/2006/main">
              <a:ext uri="{FF2B5EF4-FFF2-40B4-BE49-F238E27FC236}">
                <a16:creationId xmlns:a16="http://schemas.microsoft.com/office/drawing/2014/main" id="{5BEAD18F-ECFC-4EBF-8782-1E12A5BF65DF}"/>
              </a:ext>
            </a:extLst>
          </p:cNvPr>
          <p:cNvSpPr>
            <a:spLocks xmlns:a="http://schemas.openxmlformats.org/drawingml/2006/main" noGrp="1"/>
          </p:cNvSpPr>
          <p:nvPr/>
        </p:nvSpPr>
        <p:spPr>
          <a:xfrm xmlns:a="http://schemas.openxmlformats.org/drawingml/2006/main">
            <a:off x="781050" y="5372100"/>
            <a:ext cx="4019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D82"/>
                </a:solidFill>
                <a:latin typeface="Arial"/>
                <a:ea typeface="Arial"/>
                <a:cs typeface="Arial"/>
              </a:defRPr>
            </a:pPr>
            <a:r>
              <a:rPr sz="1950" b="0">
                <a:solidFill>
                  <a:srgbClr val="526D82"/>
                </a:solidFill>
                <a:latin typeface="Arial"/>
                <a:ea typeface="Arial"/>
                <a:cs typeface="Arial"/>
              </a:rPr>
              <a:t>One university intake</a:t>
            </a:r>
          </a:p>
        </p:txBody>
      </p:sp>
      <p:sp>
        <p:nvSpPr>
          <p:cNvPr id="5" name="text-116">
            <a:extLst xmlns:a="http://schemas.openxmlformats.org/drawingml/2006/main">
              <a:ext uri="{FF2B5EF4-FFF2-40B4-BE49-F238E27FC236}">
                <a16:creationId xmlns:a16="http://schemas.microsoft.com/office/drawing/2014/main" id="{008E48B9-3DE7-4F33-BCFD-A0F464B1208C}"/>
              </a:ext>
            </a:extLst>
          </p:cNvPr>
          <p:cNvSpPr>
            <a:spLocks xmlns:a="http://schemas.openxmlformats.org/drawingml/2006/main" noGrp="1"/>
          </p:cNvSpPr>
          <p:nvPr/>
        </p:nvSpPr>
        <p:spPr>
          <a:xfrm xmlns:a="http://schemas.openxmlformats.org/drawingml/2006/main">
            <a:off x="5753100" y="2333625"/>
            <a:ext cx="57245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73B60"/>
                </a:solidFill>
                <a:latin typeface="Arial"/>
                <a:ea typeface="Arial"/>
                <a:cs typeface="Arial"/>
              </a:defRPr>
            </a:pPr>
            <a:r>
              <a:rPr sz="2250" b="1">
                <a:solidFill>
                  <a:srgbClr val="073B60"/>
                </a:solidFill>
                <a:latin typeface="Arial"/>
                <a:ea typeface="Arial"/>
                <a:cs typeface="Arial"/>
              </a:rPr>
              <a:t>More completed bookings</a:t>
            </a:r>
          </a:p>
        </p:txBody>
      </p:sp>
      <p:sp>
        <p:nvSpPr>
          <p:cNvPr id="6" name="text-117">
            <a:extLst xmlns:a="http://schemas.openxmlformats.org/drawingml/2006/main">
              <a:ext uri="{FF2B5EF4-FFF2-40B4-BE49-F238E27FC236}">
                <a16:creationId xmlns:a16="http://schemas.microsoft.com/office/drawing/2014/main" id="{DA1BA2F6-C90D-4701-B897-241AC2B2E4F8}"/>
              </a:ext>
            </a:extLst>
          </p:cNvPr>
          <p:cNvSpPr>
            <a:spLocks xmlns:a="http://schemas.openxmlformats.org/drawingml/2006/main" noGrp="1"/>
          </p:cNvSpPr>
          <p:nvPr/>
        </p:nvSpPr>
        <p:spPr>
          <a:xfrm xmlns:a="http://schemas.openxmlformats.org/drawingml/2006/main">
            <a:off x="5753100" y="3162300"/>
            <a:ext cx="57245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Fewer avoidable support calls</a:t>
            </a:r>
          </a:p>
        </p:txBody>
      </p:sp>
      <p:sp>
        <p:nvSpPr>
          <p:cNvPr id="7" name="text-118">
            <a:extLst xmlns:a="http://schemas.openxmlformats.org/drawingml/2006/main">
              <a:ext uri="{FF2B5EF4-FFF2-40B4-BE49-F238E27FC236}">
                <a16:creationId xmlns:a16="http://schemas.microsoft.com/office/drawing/2014/main" id="{688B0BD1-F4C5-4166-B5DF-89D5389F6C89}"/>
              </a:ext>
            </a:extLst>
          </p:cNvPr>
          <p:cNvSpPr>
            <a:spLocks xmlns:a="http://schemas.openxmlformats.org/drawingml/2006/main" noGrp="1"/>
          </p:cNvSpPr>
          <p:nvPr/>
        </p:nvSpPr>
        <p:spPr>
          <a:xfrm xmlns:a="http://schemas.openxmlformats.org/drawingml/2006/main">
            <a:off x="5753100" y="3990975"/>
            <a:ext cx="57245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Clearer cost expectations</a:t>
            </a:r>
          </a:p>
        </p:txBody>
      </p:sp>
      <p:sp>
        <p:nvSpPr>
          <p:cNvPr id="8" name="text-119">
            <a:extLst xmlns:a="http://schemas.openxmlformats.org/drawingml/2006/main">
              <a:ext uri="{FF2B5EF4-FFF2-40B4-BE49-F238E27FC236}">
                <a16:creationId xmlns:a16="http://schemas.microsoft.com/office/drawing/2014/main" id="{F7EBBD34-3C80-477D-A2DD-273044FD5EF9}"/>
              </a:ext>
            </a:extLst>
          </p:cNvPr>
          <p:cNvSpPr>
            <a:spLocks xmlns:a="http://schemas.openxmlformats.org/drawingml/2006/main" noGrp="1"/>
          </p:cNvSpPr>
          <p:nvPr/>
        </p:nvSpPr>
        <p:spPr>
          <a:xfrm xmlns:a="http://schemas.openxmlformats.org/drawingml/2006/main">
            <a:off x="5753100" y="4819650"/>
            <a:ext cx="57245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073B60"/>
                </a:solidFill>
                <a:latin typeface="Arial"/>
                <a:ea typeface="Arial"/>
                <a:cs typeface="Arial"/>
              </a:defRPr>
            </a:pPr>
            <a:r>
              <a:rPr sz="2250" b="0">
                <a:solidFill>
                  <a:srgbClr val="073B60"/>
                </a:solidFill>
                <a:latin typeface="Arial"/>
                <a:ea typeface="Arial"/>
                <a:cs typeface="Arial"/>
              </a:rPr>
              <a:t>More use of relevant services</a:t>
            </a:r>
          </a:p>
        </p:txBody>
      </p:sp>
      <p:sp>
        <p:nvSpPr>
          <p:cNvPr id="9" name="text-120">
            <a:extLst xmlns:a="http://schemas.openxmlformats.org/drawingml/2006/main">
              <a:ext uri="{FF2B5EF4-FFF2-40B4-BE49-F238E27FC236}">
                <a16:creationId xmlns:a16="http://schemas.microsoft.com/office/drawing/2014/main" id="{E7315E1F-99DF-4232-865C-BB690CACCB1C}"/>
              </a:ext>
            </a:extLst>
          </p:cNvPr>
          <p:cNvSpPr>
            <a:spLocks xmlns:a="http://schemas.openxmlformats.org/drawingml/2006/main" noGrp="1"/>
          </p:cNvSpPr>
          <p:nvPr/>
        </p:nvSpPr>
        <p:spPr>
          <a:xfrm xmlns:a="http://schemas.openxmlformats.org/drawingml/2006/main">
            <a:off x="704850" y="6286500"/>
            <a:ext cx="971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D82"/>
                </a:solidFill>
                <a:latin typeface="Arial"/>
                <a:ea typeface="Arial"/>
                <a:cs typeface="Arial"/>
              </a:defRPr>
            </a:pPr>
            <a:r>
              <a:rPr sz="1125" b="0">
                <a:solidFill>
                  <a:srgbClr val="526D82"/>
                </a:solidFill>
                <a:latin typeface="Arial"/>
                <a:ea typeface="Arial"/>
                <a:cs typeface="Arial"/>
              </a:rPr>
              <a:t>Proposed pilot outcomes</a:t>
            </a:r>
          </a:p>
        </p:txBody>
      </p:sp>
      <p:sp>
        <p:nvSpPr>
          <p:cNvPr id="10" name="text-121">
            <a:extLst xmlns:a="http://schemas.openxmlformats.org/drawingml/2006/main">
              <a:ext uri="{FF2B5EF4-FFF2-40B4-BE49-F238E27FC236}">
                <a16:creationId xmlns:a16="http://schemas.microsoft.com/office/drawing/2014/main" id="{08F4917E-8B6D-43A9-A76B-1CFEF8F21A1A}"/>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13 / 14</a:t>
            </a:r>
          </a:p>
        </p:txBody>
      </p:sp>
    </p:spTree>
    <p:extLst>
      <p:ext uri="{BB962C8B-B14F-4D97-AF65-F5344CB8AC3E}">
        <p14:creationId xmlns:p14="http://schemas.microsoft.com/office/powerpoint/2010/main" val="141188783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91b55bc6e764c58"/>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xt-122">
            <a:extLst xmlns:a="http://schemas.openxmlformats.org/drawingml/2006/main">
              <a:ext uri="{FF2B5EF4-FFF2-40B4-BE49-F238E27FC236}">
                <a16:creationId xmlns:a16="http://schemas.microsoft.com/office/drawing/2014/main" id="{95928846-965D-40B2-9387-ECFC3E1677E1}"/>
              </a:ext>
            </a:extLst>
          </p:cNvPr>
          <p:cNvSpPr>
            <a:spLocks xmlns:a="http://schemas.openxmlformats.org/drawingml/2006/main" noGrp="1"/>
          </p:cNvSpPr>
          <p:nvPr/>
        </p:nvSpPr>
        <p:spPr>
          <a:xfrm xmlns:a="http://schemas.openxmlformats.org/drawingml/2006/main">
            <a:off x="695325" y="1647825"/>
            <a:ext cx="933450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9C8"/>
                </a:solidFill>
                <a:latin typeface="Arial"/>
                <a:ea typeface="Arial"/>
                <a:cs typeface="Arial"/>
              </a:defRPr>
            </a:pPr>
            <a:r>
              <a:rPr sz="5400" b="1">
                <a:solidFill>
                  <a:srgbClr val="0079C8"/>
                </a:solidFill>
                <a:latin typeface="Arial"/>
                <a:ea typeface="Arial"/>
                <a:cs typeface="Arial"/>
              </a:rPr>
              <a:t>Helping Lin take</a:t>
            </a:r>
          </a:p>
          <a:p xmlns:a="http://schemas.openxmlformats.org/drawingml/2006/main">
            <a:pPr algn="l">
              <a:defRPr sz="5400" b="1">
                <a:solidFill>
                  <a:srgbClr val="0079C8"/>
                </a:solidFill>
                <a:latin typeface="Arial"/>
                <a:ea typeface="Arial"/>
                <a:cs typeface="Arial"/>
              </a:defRPr>
            </a:pPr>
            <a:r>
              <a:rPr sz="5400" b="1">
                <a:solidFill>
                  <a:srgbClr val="0079C8"/>
                </a:solidFill>
                <a:latin typeface="Arial"/>
                <a:ea typeface="Arial"/>
                <a:cs typeface="Arial"/>
              </a:rPr>
              <a:t>the next step</a:t>
            </a:r>
          </a:p>
        </p:txBody>
      </p:sp>
      <p:sp>
        <p:nvSpPr>
          <p:cNvPr id="3" name="text-123">
            <a:extLst xmlns:a="http://schemas.openxmlformats.org/drawingml/2006/main">
              <a:ext uri="{FF2B5EF4-FFF2-40B4-BE49-F238E27FC236}">
                <a16:creationId xmlns:a16="http://schemas.microsoft.com/office/drawing/2014/main" id="{F4E95D4F-2241-4712-BBAA-517EA794A2C0}"/>
              </a:ext>
            </a:extLst>
          </p:cNvPr>
          <p:cNvSpPr>
            <a:spLocks xmlns:a="http://schemas.openxmlformats.org/drawingml/2006/main" noGrp="1"/>
          </p:cNvSpPr>
          <p:nvPr/>
        </p:nvSpPr>
        <p:spPr>
          <a:xfrm xmlns:a="http://schemas.openxmlformats.org/drawingml/2006/main">
            <a:off x="742950" y="4133850"/>
            <a:ext cx="7334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073B60"/>
                </a:solidFill>
                <a:latin typeface="Arial"/>
                <a:ea typeface="Arial"/>
                <a:cs typeface="Arial"/>
              </a:defRPr>
            </a:pPr>
            <a:r>
              <a:rPr sz="2850" b="0">
                <a:solidFill>
                  <a:srgbClr val="073B60"/>
                </a:solidFill>
                <a:latin typeface="Arial"/>
                <a:ea typeface="Arial"/>
                <a:cs typeface="Arial"/>
              </a:rPr>
              <a:t>With her permission.</a:t>
            </a:r>
          </a:p>
          <a:p xmlns:a="http://schemas.openxmlformats.org/drawingml/2006/main">
            <a:pPr algn="l">
              <a:defRPr sz="2850" b="0">
                <a:solidFill>
                  <a:srgbClr val="073B60"/>
                </a:solidFill>
                <a:latin typeface="Arial"/>
                <a:ea typeface="Arial"/>
                <a:cs typeface="Arial"/>
              </a:defRPr>
            </a:pPr>
            <a:r>
              <a:rPr sz="2850" b="0">
                <a:solidFill>
                  <a:srgbClr val="073B60"/>
                </a:solidFill>
                <a:latin typeface="Arial"/>
                <a:ea typeface="Arial"/>
                <a:cs typeface="Arial"/>
              </a:rPr>
              <a:t>In her language.</a:t>
            </a:r>
          </a:p>
        </p:txBody>
      </p:sp>
      <p:sp>
        <p:nvSpPr>
          <p:cNvPr id="4" name="text-124">
            <a:extLst xmlns:a="http://schemas.openxmlformats.org/drawingml/2006/main">
              <a:ext uri="{FF2B5EF4-FFF2-40B4-BE49-F238E27FC236}">
                <a16:creationId xmlns:a16="http://schemas.microsoft.com/office/drawing/2014/main" id="{A13B4C95-027F-4401-84ED-0421F0B5C4DB}"/>
              </a:ext>
            </a:extLst>
          </p:cNvPr>
          <p:cNvSpPr>
            <a:spLocks xmlns:a="http://schemas.openxmlformats.org/drawingml/2006/main" noGrp="1"/>
          </p:cNvSpPr>
          <p:nvPr/>
        </p:nvSpPr>
        <p:spPr>
          <a:xfrm xmlns:a="http://schemas.openxmlformats.org/drawingml/2006/main">
            <a:off x="742950" y="5781675"/>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D82"/>
                </a:solidFill>
                <a:latin typeface="Arial"/>
                <a:ea typeface="Arial"/>
                <a:cs typeface="Arial"/>
              </a:defRPr>
            </a:pPr>
            <a:r>
              <a:rPr sz="1725" b="0">
                <a:solidFill>
                  <a:srgbClr val="526D82"/>
                </a:solidFill>
                <a:latin typeface="Arial"/>
                <a:ea typeface="Arial"/>
                <a:cs typeface="Arial"/>
              </a:rPr>
              <a:t>My Bupa Agent</a:t>
            </a:r>
          </a:p>
        </p:txBody>
      </p:sp>
      <p:sp>
        <p:nvSpPr>
          <p:cNvPr id="5" name="text-125">
            <a:extLst xmlns:a="http://schemas.openxmlformats.org/drawingml/2006/main">
              <a:ext uri="{FF2B5EF4-FFF2-40B4-BE49-F238E27FC236}">
                <a16:creationId xmlns:a16="http://schemas.microsoft.com/office/drawing/2014/main" id="{5752BC6C-84A3-4C1A-8CD7-859B20A527AB}"/>
              </a:ext>
            </a:extLst>
          </p:cNvPr>
          <p:cNvSpPr>
            <a:spLocks xmlns:a="http://schemas.openxmlformats.org/drawingml/2006/main" noGrp="1"/>
          </p:cNvSpPr>
          <p:nvPr/>
        </p:nvSpPr>
        <p:spPr>
          <a:xfrm xmlns:a="http://schemas.openxmlformats.org/drawingml/2006/main">
            <a:off x="10734675" y="6286500"/>
            <a:ext cx="781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D82"/>
                </a:solidFill>
                <a:latin typeface="Arial"/>
                <a:ea typeface="Arial"/>
                <a:cs typeface="Arial"/>
              </a:defRPr>
            </a:pPr>
            <a:r>
              <a:rPr sz="1125" b="0">
                <a:solidFill>
                  <a:srgbClr val="526D82"/>
                </a:solidFill>
                <a:latin typeface="Arial"/>
                <a:ea typeface="Arial"/>
                <a:cs typeface="Arial"/>
              </a:rPr>
              <a:t>14 / 14</a:t>
            </a:r>
          </a:p>
        </p:txBody>
      </p:sp>
    </p:spTree>
    <p:extLst>
      <p:ext uri="{BB962C8B-B14F-4D97-AF65-F5344CB8AC3E}">
        <p14:creationId xmlns:p14="http://schemas.microsoft.com/office/powerpoint/2010/main" val="1295554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2026-09-28T03:55:01.0030000Z</dcterms:created>
  <dcterms:modified xsi:type="dcterms:W3CDTF">2026-09-28T03:55:01.0030000Z</dcterms:modified>
</coreProperties>
</file>